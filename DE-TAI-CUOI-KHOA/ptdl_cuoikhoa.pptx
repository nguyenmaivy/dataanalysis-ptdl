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Instrument Sans Medium"/>
      <p:regular r:id="rId17"/>
    </p:embeddedFont>
    <p:embeddedFont>
      <p:font typeface="Instrument Sans Medium"/>
      <p:regular r:id="rId18"/>
    </p:embeddedFont>
    <p:embeddedFont>
      <p:font typeface="Instrument Sans Medium"/>
      <p:regular r:id="rId19"/>
    </p:embeddedFont>
    <p:embeddedFont>
      <p:font typeface="Instrument Sans Medium"/>
      <p:regular r:id="rId20"/>
    </p:embeddedFont>
    <p:embeddedFont>
      <p:font typeface="Inter"/>
      <p:regular r:id="rId21"/>
    </p:embeddedFont>
    <p:embeddedFont>
      <p:font typeface="Inter"/>
      <p:regular r:id="rId22"/>
    </p:embeddedFont>
    <p:embeddedFont>
      <p:font typeface="Inter"/>
      <p:regular r:id="rId23"/>
    </p:embeddedFont>
    <p:embeddedFont>
      <p:font typeface="Inter"/>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slideLayout" Target="../slideLayouts/slideLayout7.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4.png"/><Relationship Id="rId5" Type="http://schemas.openxmlformats.org/officeDocument/2006/relationships/image" Target="../media/image-8-5.svg"/><Relationship Id="rId6" Type="http://schemas.openxmlformats.org/officeDocument/2006/relationships/image" Target="../media/image-8-6.png"/><Relationship Id="rId7" Type="http://schemas.openxmlformats.org/officeDocument/2006/relationships/image" Target="../media/image-8-7.svg"/><Relationship Id="rId8" Type="http://schemas.openxmlformats.org/officeDocument/2006/relationships/image" Target="../media/image-8-8.png"/><Relationship Id="rId9" Type="http://schemas.openxmlformats.org/officeDocument/2006/relationships/image" Target="../media/image-8-9.svg"/><Relationship Id="rId10" Type="http://schemas.openxmlformats.org/officeDocument/2006/relationships/slideLayout" Target="../slideLayouts/slideLayout9.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3406021"/>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Giải mã Thị trường Cho thuê Phòng tại TP. Hồ Chí Minh</a:t>
            </a:r>
            <a:endParaRPr lang="en-US" sz="4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2644735"/>
            <a:ext cx="4196358" cy="2940010"/>
          </a:xfrm>
          <a:prstGeom prst="roundRect">
            <a:avLst>
              <a:gd name="adj" fmla="val 1157"/>
            </a:avLst>
          </a:prstGeom>
          <a:solidFill>
            <a:srgbClr val="434348"/>
          </a:solidFill>
          <a:ln/>
        </p:spPr>
      </p:sp>
      <p:sp>
        <p:nvSpPr>
          <p:cNvPr id="3" name="Shape 1"/>
          <p:cNvSpPr/>
          <p:nvPr/>
        </p:nvSpPr>
        <p:spPr>
          <a:xfrm>
            <a:off x="1020604" y="2871549"/>
            <a:ext cx="680442" cy="680442"/>
          </a:xfrm>
          <a:prstGeom prst="roundRect">
            <a:avLst>
              <a:gd name="adj" fmla="val 13436980"/>
            </a:avLst>
          </a:prstGeom>
          <a:solidFill>
            <a:srgbClr val="FDC4C4"/>
          </a:solidFill>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07770" y="3058597"/>
            <a:ext cx="306110" cy="306110"/>
          </a:xfrm>
          <a:prstGeom prst="rect">
            <a:avLst/>
          </a:prstGeom>
        </p:spPr>
      </p:pic>
      <p:sp>
        <p:nvSpPr>
          <p:cNvPr id="5" name="Text 2"/>
          <p:cNvSpPr/>
          <p:nvPr/>
        </p:nvSpPr>
        <p:spPr>
          <a:xfrm>
            <a:off x="1020604" y="3778806"/>
            <a:ext cx="2955369" cy="354330"/>
          </a:xfrm>
          <a:prstGeom prst="rect">
            <a:avLst/>
          </a:prstGeom>
          <a:noFill/>
          <a:ln/>
        </p:spPr>
        <p:txBody>
          <a:bodyPr wrap="none" lIns="0" tIns="0" rIns="0" bIns="0" rtlCol="0" anchor="t"/>
          <a:lstStyle/>
          <a:p>
            <a:pPr algn="l"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Phân Tích Chuyên Sâu</a:t>
            </a:r>
            <a:endParaRPr lang="en-US" sz="2200" dirty="0"/>
          </a:p>
        </p:txBody>
      </p:sp>
      <p:sp>
        <p:nvSpPr>
          <p:cNvPr id="6" name="Text 3"/>
          <p:cNvSpPr/>
          <p:nvPr/>
        </p:nvSpPr>
        <p:spPr>
          <a:xfrm>
            <a:off x="1020604" y="4269224"/>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Khai thác dữ liệu phòng trọ để hiểu rõ đặc điểm thị trường.</a:t>
            </a:r>
            <a:endParaRPr lang="en-US" sz="1750" dirty="0"/>
          </a:p>
        </p:txBody>
      </p:sp>
      <p:sp>
        <p:nvSpPr>
          <p:cNvPr id="7" name="Shape 4"/>
          <p:cNvSpPr/>
          <p:nvPr/>
        </p:nvSpPr>
        <p:spPr>
          <a:xfrm>
            <a:off x="5216962" y="2644735"/>
            <a:ext cx="4196358" cy="2940010"/>
          </a:xfrm>
          <a:prstGeom prst="roundRect">
            <a:avLst>
              <a:gd name="adj" fmla="val 1157"/>
            </a:avLst>
          </a:prstGeom>
          <a:solidFill>
            <a:srgbClr val="434348"/>
          </a:solidFill>
          <a:ln/>
        </p:spPr>
      </p:sp>
      <p:sp>
        <p:nvSpPr>
          <p:cNvPr id="8" name="Shape 5"/>
          <p:cNvSpPr/>
          <p:nvPr/>
        </p:nvSpPr>
        <p:spPr>
          <a:xfrm>
            <a:off x="5443776" y="2871549"/>
            <a:ext cx="680442" cy="680442"/>
          </a:xfrm>
          <a:prstGeom prst="roundRect">
            <a:avLst>
              <a:gd name="adj" fmla="val 13436980"/>
            </a:avLst>
          </a:prstGeom>
          <a:solidFill>
            <a:srgbClr val="FDC4C4"/>
          </a:solidFill>
          <a:ln/>
        </p:spPr>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30942" y="3058597"/>
            <a:ext cx="306110" cy="306110"/>
          </a:xfrm>
          <a:prstGeom prst="rect">
            <a:avLst/>
          </a:prstGeom>
        </p:spPr>
      </p:pic>
      <p:sp>
        <p:nvSpPr>
          <p:cNvPr id="10" name="Text 6"/>
          <p:cNvSpPr/>
          <p:nvPr/>
        </p:nvSpPr>
        <p:spPr>
          <a:xfrm>
            <a:off x="5443776" y="377880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Đối Tượng Mục Tiêu</a:t>
            </a:r>
            <a:endParaRPr lang="en-US" sz="2200" dirty="0"/>
          </a:p>
        </p:txBody>
      </p:sp>
      <p:sp>
        <p:nvSpPr>
          <p:cNvPr id="11" name="Text 7"/>
          <p:cNvSpPr/>
          <p:nvPr/>
        </p:nvSpPr>
        <p:spPr>
          <a:xfrm>
            <a:off x="5443776" y="4269224"/>
            <a:ext cx="3742730" cy="1088708"/>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Nhà phân tích dữ liệu và nhóm sản phẩm trong ngành bất động sản cho thuê.</a:t>
            </a:r>
            <a:endParaRPr lang="en-US" sz="1750" dirty="0"/>
          </a:p>
        </p:txBody>
      </p:sp>
      <p:sp>
        <p:nvSpPr>
          <p:cNvPr id="12" name="Shape 8"/>
          <p:cNvSpPr/>
          <p:nvPr/>
        </p:nvSpPr>
        <p:spPr>
          <a:xfrm>
            <a:off x="9640133" y="2644735"/>
            <a:ext cx="4196358" cy="2940010"/>
          </a:xfrm>
          <a:prstGeom prst="roundRect">
            <a:avLst>
              <a:gd name="adj" fmla="val 1157"/>
            </a:avLst>
          </a:prstGeom>
          <a:solidFill>
            <a:srgbClr val="434348"/>
          </a:solidFill>
          <a:ln/>
        </p:spPr>
      </p:sp>
      <p:sp>
        <p:nvSpPr>
          <p:cNvPr id="13" name="Shape 9"/>
          <p:cNvSpPr/>
          <p:nvPr/>
        </p:nvSpPr>
        <p:spPr>
          <a:xfrm>
            <a:off x="9866948" y="2871549"/>
            <a:ext cx="680442" cy="680442"/>
          </a:xfrm>
          <a:prstGeom prst="roundRect">
            <a:avLst>
              <a:gd name="adj" fmla="val 13436980"/>
            </a:avLst>
          </a:prstGeom>
          <a:solidFill>
            <a:srgbClr val="FDC4C4"/>
          </a:solidFill>
          <a:ln/>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54114" y="3058597"/>
            <a:ext cx="306110" cy="306110"/>
          </a:xfrm>
          <a:prstGeom prst="rect">
            <a:avLst/>
          </a:prstGeom>
        </p:spPr>
      </p:pic>
      <p:sp>
        <p:nvSpPr>
          <p:cNvPr id="15" name="Text 10"/>
          <p:cNvSpPr/>
          <p:nvPr/>
        </p:nvSpPr>
        <p:spPr>
          <a:xfrm>
            <a:off x="9866948" y="377880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Phạm Vi</a:t>
            </a:r>
            <a:endParaRPr lang="en-US" sz="2200" dirty="0"/>
          </a:p>
        </p:txBody>
      </p:sp>
      <p:sp>
        <p:nvSpPr>
          <p:cNvPr id="16" name="Text 11"/>
          <p:cNvSpPr/>
          <p:nvPr/>
        </p:nvSpPr>
        <p:spPr>
          <a:xfrm>
            <a:off x="9866948" y="4269224"/>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Tập trung vào thị trường phòng trọ tại TP. Hồ Chí Minh.</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09136" y="557213"/>
            <a:ext cx="9340453" cy="633174"/>
          </a:xfrm>
          <a:prstGeom prst="rect">
            <a:avLst/>
          </a:prstGeom>
          <a:noFill/>
          <a:ln/>
        </p:spPr>
        <p:txBody>
          <a:bodyPr wrap="none" lIns="0" tIns="0" rIns="0" bIns="0" rtlCol="0" anchor="t"/>
          <a:lstStyle/>
          <a:p>
            <a:pPr algn="l" indent="0" marL="0">
              <a:lnSpc>
                <a:spcPts val="4950"/>
              </a:lnSpc>
              <a:buNone/>
            </a:pPr>
            <a:r>
              <a:rPr lang="en-US" sz="3950" dirty="0">
                <a:solidFill>
                  <a:srgbClr val="EFD5FA"/>
                </a:solidFill>
                <a:latin typeface="Instrument Sans Medium" pitchFamily="34" charset="0"/>
                <a:ea typeface="Instrument Sans Medium" pitchFamily="34" charset="-122"/>
                <a:cs typeface="Instrument Sans Medium" pitchFamily="34" charset="-120"/>
              </a:rPr>
              <a:t>Quy trình Xử lý Dữ liệu: Từ Thô đến Tinh</a:t>
            </a:r>
            <a:endParaRPr lang="en-US" sz="3950" dirty="0"/>
          </a:p>
        </p:txBody>
      </p:sp>
      <p:pic>
        <p:nvPicPr>
          <p:cNvPr id="3" name="Image 0" descr="preencoded.png">    </p:cNvPr>
          <p:cNvPicPr>
            <a:picLocks noChangeAspect="1"/>
          </p:cNvPicPr>
          <p:nvPr/>
        </p:nvPicPr>
        <p:blipFill>
          <a:blip r:embed="rId1"/>
          <a:stretch>
            <a:fillRect/>
          </a:stretch>
        </p:blipFill>
        <p:spPr>
          <a:xfrm>
            <a:off x="709136" y="1595557"/>
            <a:ext cx="1013103" cy="1215747"/>
          </a:xfrm>
          <a:prstGeom prst="rect">
            <a:avLst/>
          </a:prstGeom>
        </p:spPr>
      </p:pic>
      <p:sp>
        <p:nvSpPr>
          <p:cNvPr id="4" name="Text 1"/>
          <p:cNvSpPr/>
          <p:nvPr/>
        </p:nvSpPr>
        <p:spPr>
          <a:xfrm>
            <a:off x="1924764" y="1798082"/>
            <a:ext cx="2904768" cy="316468"/>
          </a:xfrm>
          <a:prstGeom prst="rect">
            <a:avLst/>
          </a:prstGeom>
          <a:noFill/>
          <a:ln/>
        </p:spPr>
        <p:txBody>
          <a:bodyPr wrap="none" lIns="0" tIns="0" rIns="0" bIns="0" rtlCol="0" anchor="t"/>
          <a:lstStyle/>
          <a:p>
            <a:pPr algn="l" indent="0" marL="0">
              <a:lnSpc>
                <a:spcPts val="2450"/>
              </a:lnSpc>
              <a:buNone/>
            </a:pPr>
            <a:r>
              <a:rPr lang="en-US" sz="1950" dirty="0">
                <a:solidFill>
                  <a:srgbClr val="C7CDD6"/>
                </a:solidFill>
                <a:latin typeface="Instrument Sans Medium" pitchFamily="34" charset="0"/>
                <a:ea typeface="Instrument Sans Medium" pitchFamily="34" charset="-122"/>
                <a:cs typeface="Instrument Sans Medium" pitchFamily="34" charset="-120"/>
              </a:rPr>
              <a:t>Thu thập &amp; Mô tả Dữ liệu</a:t>
            </a:r>
            <a:endParaRPr lang="en-US" sz="1950" dirty="0"/>
          </a:p>
        </p:txBody>
      </p:sp>
      <p:sp>
        <p:nvSpPr>
          <p:cNvPr id="5" name="Text 2"/>
          <p:cNvSpPr/>
          <p:nvPr/>
        </p:nvSpPr>
        <p:spPr>
          <a:xfrm>
            <a:off x="1924764" y="2236113"/>
            <a:ext cx="11996499" cy="324207"/>
          </a:xfrm>
          <a:prstGeom prst="rect">
            <a:avLst/>
          </a:prstGeom>
          <a:noFill/>
          <a:ln/>
        </p:spPr>
        <p:txBody>
          <a:bodyPr wrap="none" lIns="0" tIns="0" rIns="0" bIns="0" rtlCol="0" anchor="t"/>
          <a:lstStyle/>
          <a:p>
            <a:pPr algn="l" indent="0" marL="0">
              <a:lnSpc>
                <a:spcPts val="2550"/>
              </a:lnSpc>
              <a:buNone/>
            </a:pPr>
            <a:r>
              <a:rPr lang="en-US" sz="1550" dirty="0">
                <a:solidFill>
                  <a:srgbClr val="C7CDD6"/>
                </a:solidFill>
                <a:latin typeface="Inter" pitchFamily="34" charset="0"/>
                <a:ea typeface="Inter" pitchFamily="34" charset="-122"/>
                <a:cs typeface="Inter" pitchFamily="34" charset="-120"/>
              </a:rPr>
              <a:t>Bắt đầu với việc mô tả bộ dữ liệu gốc và kiểm tra tổng quan.</a:t>
            </a:r>
            <a:endParaRPr lang="en-US" sz="1550" dirty="0"/>
          </a:p>
        </p:txBody>
      </p:sp>
      <p:pic>
        <p:nvPicPr>
          <p:cNvPr id="6" name="Image 1" descr="preencoded.png">    </p:cNvPr>
          <p:cNvPicPr>
            <a:picLocks noChangeAspect="1"/>
          </p:cNvPicPr>
          <p:nvPr/>
        </p:nvPicPr>
        <p:blipFill>
          <a:blip r:embed="rId2"/>
          <a:stretch>
            <a:fillRect/>
          </a:stretch>
        </p:blipFill>
        <p:spPr>
          <a:xfrm>
            <a:off x="709136" y="2811304"/>
            <a:ext cx="1013103" cy="1215747"/>
          </a:xfrm>
          <a:prstGeom prst="rect">
            <a:avLst/>
          </a:prstGeom>
        </p:spPr>
      </p:pic>
      <p:sp>
        <p:nvSpPr>
          <p:cNvPr id="7" name="Text 3"/>
          <p:cNvSpPr/>
          <p:nvPr/>
        </p:nvSpPr>
        <p:spPr>
          <a:xfrm>
            <a:off x="1924764" y="3013829"/>
            <a:ext cx="3238619" cy="316468"/>
          </a:xfrm>
          <a:prstGeom prst="rect">
            <a:avLst/>
          </a:prstGeom>
          <a:noFill/>
          <a:ln/>
        </p:spPr>
        <p:txBody>
          <a:bodyPr wrap="none" lIns="0" tIns="0" rIns="0" bIns="0" rtlCol="0" anchor="t"/>
          <a:lstStyle/>
          <a:p>
            <a:pPr algn="l" indent="0" marL="0">
              <a:lnSpc>
                <a:spcPts val="2450"/>
              </a:lnSpc>
              <a:buNone/>
            </a:pPr>
            <a:r>
              <a:rPr lang="en-US" sz="1950" dirty="0">
                <a:solidFill>
                  <a:srgbClr val="C7CDD6"/>
                </a:solidFill>
                <a:latin typeface="Instrument Sans Medium" pitchFamily="34" charset="0"/>
                <a:ea typeface="Instrument Sans Medium" pitchFamily="34" charset="-122"/>
                <a:cs typeface="Instrument Sans Medium" pitchFamily="34" charset="-120"/>
              </a:rPr>
              <a:t>Kiểm tra Chất lượng Dữ liệu</a:t>
            </a:r>
            <a:endParaRPr lang="en-US" sz="1950" dirty="0"/>
          </a:p>
        </p:txBody>
      </p:sp>
      <p:sp>
        <p:nvSpPr>
          <p:cNvPr id="8" name="Text 4"/>
          <p:cNvSpPr/>
          <p:nvPr/>
        </p:nvSpPr>
        <p:spPr>
          <a:xfrm>
            <a:off x="1924764" y="3451860"/>
            <a:ext cx="11996499" cy="324207"/>
          </a:xfrm>
          <a:prstGeom prst="rect">
            <a:avLst/>
          </a:prstGeom>
          <a:noFill/>
          <a:ln/>
        </p:spPr>
        <p:txBody>
          <a:bodyPr wrap="none" lIns="0" tIns="0" rIns="0" bIns="0" rtlCol="0" anchor="t"/>
          <a:lstStyle/>
          <a:p>
            <a:pPr algn="l" indent="0" marL="0">
              <a:lnSpc>
                <a:spcPts val="2550"/>
              </a:lnSpc>
              <a:buNone/>
            </a:pPr>
            <a:r>
              <a:rPr lang="en-US" sz="1550" dirty="0">
                <a:solidFill>
                  <a:srgbClr val="C7CDD6"/>
                </a:solidFill>
                <a:latin typeface="Inter" pitchFamily="34" charset="0"/>
                <a:ea typeface="Inter" pitchFamily="34" charset="-122"/>
                <a:cs typeface="Inter" pitchFamily="34" charset="-120"/>
              </a:rPr>
              <a:t>Phát hiện và xử lý trùng lặp, giá trị thiếu, và định dạng không đồng nhất.</a:t>
            </a:r>
            <a:endParaRPr lang="en-US" sz="1550" dirty="0"/>
          </a:p>
        </p:txBody>
      </p:sp>
      <p:pic>
        <p:nvPicPr>
          <p:cNvPr id="9" name="Image 2" descr="preencoded.png">    </p:cNvPr>
          <p:cNvPicPr>
            <a:picLocks noChangeAspect="1"/>
          </p:cNvPicPr>
          <p:nvPr/>
        </p:nvPicPr>
        <p:blipFill>
          <a:blip r:embed="rId3"/>
          <a:stretch>
            <a:fillRect/>
          </a:stretch>
        </p:blipFill>
        <p:spPr>
          <a:xfrm>
            <a:off x="709136" y="4027051"/>
            <a:ext cx="1013103" cy="1215747"/>
          </a:xfrm>
          <a:prstGeom prst="rect">
            <a:avLst/>
          </a:prstGeom>
        </p:spPr>
      </p:pic>
      <p:sp>
        <p:nvSpPr>
          <p:cNvPr id="10" name="Text 5"/>
          <p:cNvSpPr/>
          <p:nvPr/>
        </p:nvSpPr>
        <p:spPr>
          <a:xfrm>
            <a:off x="1924764" y="4229576"/>
            <a:ext cx="2907387" cy="316468"/>
          </a:xfrm>
          <a:prstGeom prst="rect">
            <a:avLst/>
          </a:prstGeom>
          <a:noFill/>
          <a:ln/>
        </p:spPr>
        <p:txBody>
          <a:bodyPr wrap="none" lIns="0" tIns="0" rIns="0" bIns="0" rtlCol="0" anchor="t"/>
          <a:lstStyle/>
          <a:p>
            <a:pPr algn="l" indent="0" marL="0">
              <a:lnSpc>
                <a:spcPts val="2450"/>
              </a:lnSpc>
              <a:buNone/>
            </a:pPr>
            <a:r>
              <a:rPr lang="en-US" sz="1950" dirty="0">
                <a:solidFill>
                  <a:srgbClr val="C7CDD6"/>
                </a:solidFill>
                <a:latin typeface="Instrument Sans Medium" pitchFamily="34" charset="0"/>
                <a:ea typeface="Instrument Sans Medium" pitchFamily="34" charset="-122"/>
                <a:cs typeface="Instrument Sans Medium" pitchFamily="34" charset="-120"/>
              </a:rPr>
              <a:t>Chuyển đổi &amp; Chuẩn hóa</a:t>
            </a:r>
            <a:endParaRPr lang="en-US" sz="1950" dirty="0"/>
          </a:p>
        </p:txBody>
      </p:sp>
      <p:sp>
        <p:nvSpPr>
          <p:cNvPr id="11" name="Text 6"/>
          <p:cNvSpPr/>
          <p:nvPr/>
        </p:nvSpPr>
        <p:spPr>
          <a:xfrm>
            <a:off x="1924764" y="4667607"/>
            <a:ext cx="11996499" cy="324207"/>
          </a:xfrm>
          <a:prstGeom prst="rect">
            <a:avLst/>
          </a:prstGeom>
          <a:noFill/>
          <a:ln/>
        </p:spPr>
        <p:txBody>
          <a:bodyPr wrap="none" lIns="0" tIns="0" rIns="0" bIns="0" rtlCol="0" anchor="t"/>
          <a:lstStyle/>
          <a:p>
            <a:pPr algn="l" indent="0" marL="0">
              <a:lnSpc>
                <a:spcPts val="2550"/>
              </a:lnSpc>
              <a:buNone/>
            </a:pPr>
            <a:r>
              <a:rPr lang="en-US" sz="1550" dirty="0">
                <a:solidFill>
                  <a:srgbClr val="C7CDD6"/>
                </a:solidFill>
                <a:latin typeface="Inter" pitchFamily="34" charset="0"/>
                <a:ea typeface="Inter" pitchFamily="34" charset="-122"/>
                <a:cs typeface="Inter" pitchFamily="34" charset="-120"/>
              </a:rPr>
              <a:t>Quy đổi giá thuê, diện tích, trích xuất quận/huyện, làm sạch chuỗi mô tả.</a:t>
            </a:r>
            <a:endParaRPr lang="en-US" sz="1550" dirty="0"/>
          </a:p>
        </p:txBody>
      </p:sp>
      <p:pic>
        <p:nvPicPr>
          <p:cNvPr id="12" name="Image 3" descr="preencoded.png">    </p:cNvPr>
          <p:cNvPicPr>
            <a:picLocks noChangeAspect="1"/>
          </p:cNvPicPr>
          <p:nvPr/>
        </p:nvPicPr>
        <p:blipFill>
          <a:blip r:embed="rId4"/>
          <a:stretch>
            <a:fillRect/>
          </a:stretch>
        </p:blipFill>
        <p:spPr>
          <a:xfrm>
            <a:off x="709136" y="5242798"/>
            <a:ext cx="1013103" cy="1215747"/>
          </a:xfrm>
          <a:prstGeom prst="rect">
            <a:avLst/>
          </a:prstGeom>
        </p:spPr>
      </p:pic>
      <p:sp>
        <p:nvSpPr>
          <p:cNvPr id="13" name="Text 7"/>
          <p:cNvSpPr/>
          <p:nvPr/>
        </p:nvSpPr>
        <p:spPr>
          <a:xfrm>
            <a:off x="1924764" y="5445323"/>
            <a:ext cx="2532817" cy="316468"/>
          </a:xfrm>
          <a:prstGeom prst="rect">
            <a:avLst/>
          </a:prstGeom>
          <a:noFill/>
          <a:ln/>
        </p:spPr>
        <p:txBody>
          <a:bodyPr wrap="none" lIns="0" tIns="0" rIns="0" bIns="0" rtlCol="0" anchor="t"/>
          <a:lstStyle/>
          <a:p>
            <a:pPr algn="l" indent="0" marL="0">
              <a:lnSpc>
                <a:spcPts val="2450"/>
              </a:lnSpc>
              <a:buNone/>
            </a:pPr>
            <a:r>
              <a:rPr lang="en-US" sz="1950" dirty="0">
                <a:solidFill>
                  <a:srgbClr val="C7CDD6"/>
                </a:solidFill>
                <a:latin typeface="Instrument Sans Medium" pitchFamily="34" charset="0"/>
                <a:ea typeface="Instrument Sans Medium" pitchFamily="34" charset="-122"/>
                <a:cs typeface="Instrument Sans Medium" pitchFamily="34" charset="-120"/>
              </a:rPr>
              <a:t>Làm giàu Đặc trưng</a:t>
            </a:r>
            <a:endParaRPr lang="en-US" sz="1950" dirty="0"/>
          </a:p>
        </p:txBody>
      </p:sp>
      <p:sp>
        <p:nvSpPr>
          <p:cNvPr id="14" name="Text 8"/>
          <p:cNvSpPr/>
          <p:nvPr/>
        </p:nvSpPr>
        <p:spPr>
          <a:xfrm>
            <a:off x="1924764" y="5883354"/>
            <a:ext cx="11996499" cy="324207"/>
          </a:xfrm>
          <a:prstGeom prst="rect">
            <a:avLst/>
          </a:prstGeom>
          <a:noFill/>
          <a:ln/>
        </p:spPr>
        <p:txBody>
          <a:bodyPr wrap="none" lIns="0" tIns="0" rIns="0" bIns="0" rtlCol="0" anchor="t"/>
          <a:lstStyle/>
          <a:p>
            <a:pPr algn="l" indent="0" marL="0">
              <a:lnSpc>
                <a:spcPts val="2550"/>
              </a:lnSpc>
              <a:buNone/>
            </a:pPr>
            <a:r>
              <a:rPr lang="en-US" sz="1550" dirty="0">
                <a:solidFill>
                  <a:srgbClr val="C7CDD6"/>
                </a:solidFill>
                <a:latin typeface="Inter" pitchFamily="34" charset="0"/>
                <a:ea typeface="Inter" pitchFamily="34" charset="-122"/>
                <a:cs typeface="Inter" pitchFamily="34" charset="-120"/>
              </a:rPr>
              <a:t>Tạo các đặc trưng mới: loại diện tích, khu vực, đường/hẻm, khoảng cách trung tâm, tiện nghi.</a:t>
            </a:r>
            <a:endParaRPr lang="en-US" sz="1550" dirty="0"/>
          </a:p>
        </p:txBody>
      </p:sp>
      <p:pic>
        <p:nvPicPr>
          <p:cNvPr id="15" name="Image 4" descr="preencoded.png">    </p:cNvPr>
          <p:cNvPicPr>
            <a:picLocks noChangeAspect="1"/>
          </p:cNvPicPr>
          <p:nvPr/>
        </p:nvPicPr>
        <p:blipFill>
          <a:blip r:embed="rId5"/>
          <a:stretch>
            <a:fillRect/>
          </a:stretch>
        </p:blipFill>
        <p:spPr>
          <a:xfrm>
            <a:off x="709136" y="6458545"/>
            <a:ext cx="1013103" cy="1215747"/>
          </a:xfrm>
          <a:prstGeom prst="rect">
            <a:avLst/>
          </a:prstGeom>
        </p:spPr>
      </p:pic>
      <p:sp>
        <p:nvSpPr>
          <p:cNvPr id="16" name="Text 9"/>
          <p:cNvSpPr/>
          <p:nvPr/>
        </p:nvSpPr>
        <p:spPr>
          <a:xfrm>
            <a:off x="1924764" y="6661071"/>
            <a:ext cx="2532817" cy="316468"/>
          </a:xfrm>
          <a:prstGeom prst="rect">
            <a:avLst/>
          </a:prstGeom>
          <a:noFill/>
          <a:ln/>
        </p:spPr>
        <p:txBody>
          <a:bodyPr wrap="none" lIns="0" tIns="0" rIns="0" bIns="0" rtlCol="0" anchor="t"/>
          <a:lstStyle/>
          <a:p>
            <a:pPr algn="l" indent="0" marL="0">
              <a:lnSpc>
                <a:spcPts val="2450"/>
              </a:lnSpc>
              <a:buNone/>
            </a:pPr>
            <a:r>
              <a:rPr lang="en-US" sz="1950" dirty="0">
                <a:solidFill>
                  <a:srgbClr val="C7CDD6"/>
                </a:solidFill>
                <a:latin typeface="Instrument Sans Medium" pitchFamily="34" charset="0"/>
                <a:ea typeface="Instrument Sans Medium" pitchFamily="34" charset="-122"/>
                <a:cs typeface="Instrument Sans Medium" pitchFamily="34" charset="-120"/>
              </a:rPr>
              <a:t>Xử lý Ngoại lai</a:t>
            </a:r>
            <a:endParaRPr lang="en-US" sz="1950" dirty="0"/>
          </a:p>
        </p:txBody>
      </p:sp>
      <p:sp>
        <p:nvSpPr>
          <p:cNvPr id="17" name="Text 10"/>
          <p:cNvSpPr/>
          <p:nvPr/>
        </p:nvSpPr>
        <p:spPr>
          <a:xfrm>
            <a:off x="1924764" y="7099102"/>
            <a:ext cx="11996499" cy="324207"/>
          </a:xfrm>
          <a:prstGeom prst="rect">
            <a:avLst/>
          </a:prstGeom>
          <a:noFill/>
          <a:ln/>
        </p:spPr>
        <p:txBody>
          <a:bodyPr wrap="none" lIns="0" tIns="0" rIns="0" bIns="0" rtlCol="0" anchor="t"/>
          <a:lstStyle/>
          <a:p>
            <a:pPr algn="l" indent="0" marL="0">
              <a:lnSpc>
                <a:spcPts val="2550"/>
              </a:lnSpc>
              <a:buNone/>
            </a:pPr>
            <a:r>
              <a:rPr lang="en-US" sz="1550" dirty="0">
                <a:solidFill>
                  <a:srgbClr val="C7CDD6"/>
                </a:solidFill>
                <a:latin typeface="Inter" pitchFamily="34" charset="0"/>
                <a:ea typeface="Inter" pitchFamily="34" charset="-122"/>
                <a:cs typeface="Inter" pitchFamily="34" charset="-120"/>
              </a:rPr>
              <a:t>Sử dụng phương pháp IQR để loại bỏ các giá trị bất thường, đảm bảo độ tin cậy.</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21638" y="566976"/>
            <a:ext cx="11120318" cy="644366"/>
          </a:xfrm>
          <a:prstGeom prst="rect">
            <a:avLst/>
          </a:prstGeom>
          <a:noFill/>
          <a:ln/>
        </p:spPr>
        <p:txBody>
          <a:bodyPr wrap="none" lIns="0" tIns="0" rIns="0" bIns="0" rtlCol="0" anchor="t"/>
          <a:lstStyle/>
          <a:p>
            <a:pPr algn="l" indent="0" marL="0">
              <a:lnSpc>
                <a:spcPts val="5050"/>
              </a:lnSpc>
              <a:buNone/>
            </a:pPr>
            <a:r>
              <a:rPr lang="en-US" sz="4050" dirty="0">
                <a:solidFill>
                  <a:srgbClr val="EFD5FA"/>
                </a:solidFill>
                <a:latin typeface="Instrument Sans Medium" pitchFamily="34" charset="0"/>
                <a:ea typeface="Instrument Sans Medium" pitchFamily="34" charset="-122"/>
                <a:cs typeface="Instrument Sans Medium" pitchFamily="34" charset="-120"/>
              </a:rPr>
              <a:t>Mô tả Dữ liệu Ban đầu và Kiểm định Chất lượng</a:t>
            </a:r>
            <a:endParaRPr lang="en-US" sz="4050" dirty="0"/>
          </a:p>
        </p:txBody>
      </p:sp>
      <p:sp>
        <p:nvSpPr>
          <p:cNvPr id="3" name="Text 1"/>
          <p:cNvSpPr/>
          <p:nvPr/>
        </p:nvSpPr>
        <p:spPr>
          <a:xfrm>
            <a:off x="721638" y="1706047"/>
            <a:ext cx="6342102" cy="1319689"/>
          </a:xfrm>
          <a:prstGeom prst="rect">
            <a:avLst/>
          </a:prstGeom>
          <a:noFill/>
          <a:ln/>
        </p:spPr>
        <p:txBody>
          <a:bodyPr wrap="square" lIns="0" tIns="0" rIns="0" bIns="0" rtlCol="0" anchor="t"/>
          <a:lstStyle/>
          <a:p>
            <a:pPr algn="l" indent="0" marL="0">
              <a:lnSpc>
                <a:spcPts val="2550"/>
              </a:lnSpc>
              <a:buNone/>
            </a:pPr>
            <a:r>
              <a:rPr lang="en-US" sz="1600" dirty="0">
                <a:solidFill>
                  <a:srgbClr val="C7CDD6"/>
                </a:solidFill>
                <a:latin typeface="Inter" pitchFamily="34" charset="0"/>
                <a:ea typeface="Inter" pitchFamily="34" charset="-122"/>
                <a:cs typeface="Inter" pitchFamily="34" charset="-120"/>
              </a:rPr>
              <a:t>Giai đoạn đầu tiên tập trung vào việc mô tả cấu trúc và nội dung của bộ dữ liệu phòng trọ tại TP. Hồ Chí Minh. Chúng tôi xác định các trường thông tin quan trọng như giá thuê, diện tích, địa chỉ, mô tả, và các đặc điểm khác.</a:t>
            </a:r>
            <a:endParaRPr lang="en-US" sz="1600" dirty="0"/>
          </a:p>
        </p:txBody>
      </p:sp>
      <p:sp>
        <p:nvSpPr>
          <p:cNvPr id="4" name="Text 2"/>
          <p:cNvSpPr/>
          <p:nvPr/>
        </p:nvSpPr>
        <p:spPr>
          <a:xfrm>
            <a:off x="721638" y="3211235"/>
            <a:ext cx="6342102" cy="659844"/>
          </a:xfrm>
          <a:prstGeom prst="rect">
            <a:avLst/>
          </a:prstGeom>
          <a:noFill/>
          <a:ln/>
        </p:spPr>
        <p:txBody>
          <a:bodyPr wrap="square" lIns="0" tIns="0" rIns="0" bIns="0" rtlCol="0" anchor="t"/>
          <a:lstStyle/>
          <a:p>
            <a:pPr algn="l" indent="0" marL="0">
              <a:lnSpc>
                <a:spcPts val="2550"/>
              </a:lnSpc>
              <a:buNone/>
            </a:pPr>
            <a:r>
              <a:rPr lang="en-US" sz="1600" dirty="0">
                <a:solidFill>
                  <a:srgbClr val="C7CDD6"/>
                </a:solidFill>
                <a:latin typeface="Inter" pitchFamily="34" charset="0"/>
                <a:ea typeface="Inter" pitchFamily="34" charset="-122"/>
                <a:cs typeface="Inter" pitchFamily="34" charset="-120"/>
              </a:rPr>
              <a:t>Để đảm bảo độ tin cậy của phân tích, việc kiểm định chất lượng dữ liệu là rất quan trọng:</a:t>
            </a:r>
            <a:endParaRPr lang="en-US" sz="1600" dirty="0"/>
          </a:p>
        </p:txBody>
      </p:sp>
      <p:sp>
        <p:nvSpPr>
          <p:cNvPr id="5" name="Text 3"/>
          <p:cNvSpPr/>
          <p:nvPr/>
        </p:nvSpPr>
        <p:spPr>
          <a:xfrm>
            <a:off x="721638" y="4056578"/>
            <a:ext cx="6342102" cy="659844"/>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C7CDD6"/>
                </a:solidFill>
                <a:latin typeface="Inter" pitchFamily="34" charset="0"/>
                <a:ea typeface="Inter" pitchFamily="34" charset="-122"/>
                <a:cs typeface="Inter" pitchFamily="34" charset="-120"/>
              </a:rPr>
              <a:t>Phát hiện trùng lặp:</a:t>
            </a:r>
            <a:pPr algn="l" indent="0" marL="0">
              <a:lnSpc>
                <a:spcPts val="2550"/>
              </a:lnSpc>
              <a:buNone/>
            </a:pPr>
            <a:r>
              <a:rPr lang="en-US" sz="1600" dirty="0">
                <a:solidFill>
                  <a:srgbClr val="C7CDD6"/>
                </a:solidFill>
                <a:latin typeface="Inter" pitchFamily="34" charset="0"/>
                <a:ea typeface="Inter" pitchFamily="34" charset="-122"/>
                <a:cs typeface="Inter" pitchFamily="34" charset="-120"/>
              </a:rPr>
              <a:t> Loại bỏ các bản ghi giống nhau, tránh làm sai lệch kết quả thống kê.</a:t>
            </a:r>
            <a:endParaRPr lang="en-US" sz="1600" dirty="0"/>
          </a:p>
        </p:txBody>
      </p:sp>
      <p:sp>
        <p:nvSpPr>
          <p:cNvPr id="6" name="Text 4"/>
          <p:cNvSpPr/>
          <p:nvPr/>
        </p:nvSpPr>
        <p:spPr>
          <a:xfrm>
            <a:off x="721638" y="4788575"/>
            <a:ext cx="6342102" cy="659844"/>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C7CDD6"/>
                </a:solidFill>
                <a:latin typeface="Inter" pitchFamily="34" charset="0"/>
                <a:ea typeface="Inter" pitchFamily="34" charset="-122"/>
                <a:cs typeface="Inter" pitchFamily="34" charset="-120"/>
              </a:rPr>
              <a:t>Xử lý giá trị thiếu:</a:t>
            </a:r>
            <a:pPr algn="l" indent="0" marL="0">
              <a:lnSpc>
                <a:spcPts val="2550"/>
              </a:lnSpc>
              <a:buNone/>
            </a:pPr>
            <a:r>
              <a:rPr lang="en-US" sz="1600" dirty="0">
                <a:solidFill>
                  <a:srgbClr val="C7CDD6"/>
                </a:solidFill>
                <a:latin typeface="Inter" pitchFamily="34" charset="0"/>
                <a:ea typeface="Inter" pitchFamily="34" charset="-122"/>
                <a:cs typeface="Inter" pitchFamily="34" charset="-120"/>
              </a:rPr>
              <a:t> Điền hoặc loại bỏ các giá trị null một cách hợp lý.</a:t>
            </a:r>
            <a:endParaRPr lang="en-US" sz="1600" dirty="0"/>
          </a:p>
        </p:txBody>
      </p:sp>
      <p:sp>
        <p:nvSpPr>
          <p:cNvPr id="7" name="Text 5"/>
          <p:cNvSpPr/>
          <p:nvPr/>
        </p:nvSpPr>
        <p:spPr>
          <a:xfrm>
            <a:off x="721638" y="5520571"/>
            <a:ext cx="6342102" cy="989767"/>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C7CDD6"/>
                </a:solidFill>
                <a:latin typeface="Inter" pitchFamily="34" charset="0"/>
                <a:ea typeface="Inter" pitchFamily="34" charset="-122"/>
                <a:cs typeface="Inter" pitchFamily="34" charset="-120"/>
              </a:rPr>
              <a:t>Chuẩn hóa định dạng:</a:t>
            </a:r>
            <a:pPr algn="l" indent="0" marL="0">
              <a:lnSpc>
                <a:spcPts val="2550"/>
              </a:lnSpc>
              <a:buNone/>
            </a:pPr>
            <a:r>
              <a:rPr lang="en-US" sz="1600" dirty="0">
                <a:solidFill>
                  <a:srgbClr val="C7CDD6"/>
                </a:solidFill>
                <a:latin typeface="Inter" pitchFamily="34" charset="0"/>
                <a:ea typeface="Inter" pitchFamily="34" charset="-122"/>
                <a:cs typeface="Inter" pitchFamily="34" charset="-120"/>
              </a:rPr>
              <a:t> Đảm bảo tính nhất quán cho các trường dữ liệu như giá (ví dụ: triệu đồng), diện tích (mét vuông).</a:t>
            </a:r>
            <a:endParaRPr lang="en-US" sz="1600" dirty="0"/>
          </a:p>
        </p:txBody>
      </p:sp>
      <p:pic>
        <p:nvPicPr>
          <p:cNvPr id="8" name="Image 0" descr="preencoded.png">    </p:cNvPr>
          <p:cNvPicPr>
            <a:picLocks noChangeAspect="1"/>
          </p:cNvPicPr>
          <p:nvPr/>
        </p:nvPicPr>
        <p:blipFill>
          <a:blip r:embed="rId1"/>
          <a:stretch>
            <a:fillRect/>
          </a:stretch>
        </p:blipFill>
        <p:spPr>
          <a:xfrm>
            <a:off x="7574280" y="1752481"/>
            <a:ext cx="6342102" cy="634210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912614"/>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Chuyển đổi và Chuẩn hóa Dữ liệu</a:t>
            </a:r>
            <a:endParaRPr lang="en-US" sz="4450" dirty="0"/>
          </a:p>
        </p:txBody>
      </p:sp>
      <p:sp>
        <p:nvSpPr>
          <p:cNvPr id="4" name="Shape 1"/>
          <p:cNvSpPr/>
          <p:nvPr/>
        </p:nvSpPr>
        <p:spPr>
          <a:xfrm>
            <a:off x="6280190" y="2670334"/>
            <a:ext cx="3664744" cy="2749987"/>
          </a:xfrm>
          <a:prstGeom prst="roundRect">
            <a:avLst>
              <a:gd name="adj" fmla="val 19796"/>
            </a:avLst>
          </a:prstGeom>
          <a:solidFill>
            <a:srgbClr val="434348"/>
          </a:solidFill>
          <a:ln/>
        </p:spPr>
      </p:sp>
      <p:sp>
        <p:nvSpPr>
          <p:cNvPr id="5" name="Text 2"/>
          <p:cNvSpPr/>
          <p:nvPr/>
        </p:nvSpPr>
        <p:spPr>
          <a:xfrm>
            <a:off x="6507004" y="2897148"/>
            <a:ext cx="3211116" cy="708660"/>
          </a:xfrm>
          <a:prstGeom prst="rect">
            <a:avLst/>
          </a:prstGeom>
          <a:noFill/>
          <a:ln/>
        </p:spPr>
        <p:txBody>
          <a:bodyPr wrap="square" lIns="0" tIns="0" rIns="0" bIns="0" rtlCol="0" anchor="t"/>
          <a:lstStyle/>
          <a:p>
            <a:pPr algn="l"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Quy đổi Giá thuê &amp; Diện tích</a:t>
            </a:r>
            <a:endParaRPr lang="en-US" sz="2200" dirty="0"/>
          </a:p>
        </p:txBody>
      </p:sp>
      <p:sp>
        <p:nvSpPr>
          <p:cNvPr id="6" name="Text 3"/>
          <p:cNvSpPr/>
          <p:nvPr/>
        </p:nvSpPr>
        <p:spPr>
          <a:xfrm>
            <a:off x="6507004" y="3741896"/>
            <a:ext cx="3211116" cy="1451610"/>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Chuyển đổi các đơn vị và định dạng giá thuê, diện tích về một chuẩn duy nhất để dễ dàng so sánh và phân tích.</a:t>
            </a:r>
            <a:endParaRPr lang="en-US" sz="1750" dirty="0"/>
          </a:p>
        </p:txBody>
      </p:sp>
      <p:sp>
        <p:nvSpPr>
          <p:cNvPr id="7" name="Shape 4"/>
          <p:cNvSpPr/>
          <p:nvPr/>
        </p:nvSpPr>
        <p:spPr>
          <a:xfrm>
            <a:off x="10171748" y="2670334"/>
            <a:ext cx="3664863" cy="2749987"/>
          </a:xfrm>
          <a:prstGeom prst="roundRect">
            <a:avLst>
              <a:gd name="adj" fmla="val 19796"/>
            </a:avLst>
          </a:prstGeom>
          <a:solidFill>
            <a:srgbClr val="434348"/>
          </a:solidFill>
          <a:ln/>
        </p:spPr>
      </p:sp>
      <p:sp>
        <p:nvSpPr>
          <p:cNvPr id="8" name="Text 5"/>
          <p:cNvSpPr/>
          <p:nvPr/>
        </p:nvSpPr>
        <p:spPr>
          <a:xfrm>
            <a:off x="10398562" y="2897148"/>
            <a:ext cx="3211235" cy="708660"/>
          </a:xfrm>
          <a:prstGeom prst="rect">
            <a:avLst/>
          </a:prstGeom>
          <a:noFill/>
          <a:ln/>
        </p:spPr>
        <p:txBody>
          <a:bodyPr wrap="square" lIns="0" tIns="0" rIns="0" bIns="0" rtlCol="0" anchor="t"/>
          <a:lstStyle/>
          <a:p>
            <a:pPr algn="l"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Trích xuất Quận/Huyện từ Địa chỉ</a:t>
            </a:r>
            <a:endParaRPr lang="en-US" sz="2200" dirty="0"/>
          </a:p>
        </p:txBody>
      </p:sp>
      <p:sp>
        <p:nvSpPr>
          <p:cNvPr id="9" name="Text 6"/>
          <p:cNvSpPr/>
          <p:nvPr/>
        </p:nvSpPr>
        <p:spPr>
          <a:xfrm>
            <a:off x="10398562" y="3741896"/>
            <a:ext cx="3211235" cy="1451610"/>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Tự động xác định và trích xuất thông tin quận/huyện từ các trường URL hoặc địa chỉ thô.</a:t>
            </a:r>
            <a:endParaRPr lang="en-US" sz="1750" dirty="0"/>
          </a:p>
        </p:txBody>
      </p:sp>
      <p:sp>
        <p:nvSpPr>
          <p:cNvPr id="10" name="Shape 7"/>
          <p:cNvSpPr/>
          <p:nvPr/>
        </p:nvSpPr>
        <p:spPr>
          <a:xfrm>
            <a:off x="6280190" y="5647134"/>
            <a:ext cx="7556421" cy="1669852"/>
          </a:xfrm>
          <a:prstGeom prst="roundRect">
            <a:avLst>
              <a:gd name="adj" fmla="val 32601"/>
            </a:avLst>
          </a:prstGeom>
          <a:solidFill>
            <a:srgbClr val="434348"/>
          </a:solidFill>
          <a:ln/>
        </p:spPr>
      </p:sp>
      <p:sp>
        <p:nvSpPr>
          <p:cNvPr id="11" name="Text 8"/>
          <p:cNvSpPr/>
          <p:nvPr/>
        </p:nvSpPr>
        <p:spPr>
          <a:xfrm>
            <a:off x="6507004" y="5873948"/>
            <a:ext cx="2900720" cy="354330"/>
          </a:xfrm>
          <a:prstGeom prst="rect">
            <a:avLst/>
          </a:prstGeom>
          <a:noFill/>
          <a:ln/>
        </p:spPr>
        <p:txBody>
          <a:bodyPr wrap="none" lIns="0" tIns="0" rIns="0" bIns="0" rtlCol="0" anchor="t"/>
          <a:lstStyle/>
          <a:p>
            <a:pPr algn="l"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Làm sạch Chuỗi Mô tả</a:t>
            </a:r>
            <a:endParaRPr lang="en-US" sz="2200" dirty="0"/>
          </a:p>
        </p:txBody>
      </p:sp>
      <p:sp>
        <p:nvSpPr>
          <p:cNvPr id="12" name="Text 9"/>
          <p:cNvSpPr/>
          <p:nvPr/>
        </p:nvSpPr>
        <p:spPr>
          <a:xfrm>
            <a:off x="6507004" y="6364367"/>
            <a:ext cx="7102793" cy="725805"/>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Loại bỏ ký tự đặc biệt, lỗi chính tả, và chuẩn hóa văn bản mô tả để trích xuất thông tin hiệu quả hơn.</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85813" y="618173"/>
            <a:ext cx="12751356" cy="701635"/>
          </a:xfrm>
          <a:prstGeom prst="rect">
            <a:avLst/>
          </a:prstGeom>
          <a:noFill/>
          <a:ln/>
        </p:spPr>
        <p:txBody>
          <a:bodyPr wrap="none" lIns="0" tIns="0" rIns="0" bIns="0" rtlCol="0" anchor="t"/>
          <a:lstStyle/>
          <a:p>
            <a:pPr algn="l" indent="0" marL="0">
              <a:lnSpc>
                <a:spcPts val="5500"/>
              </a:lnSpc>
              <a:buNone/>
            </a:pPr>
            <a:r>
              <a:rPr lang="en-US" sz="4400" dirty="0">
                <a:solidFill>
                  <a:srgbClr val="EFD5FA"/>
                </a:solidFill>
                <a:latin typeface="Instrument Sans Medium" pitchFamily="34" charset="0"/>
                <a:ea typeface="Instrument Sans Medium" pitchFamily="34" charset="-122"/>
                <a:cs typeface="Instrument Sans Medium" pitchFamily="34" charset="-120"/>
              </a:rPr>
              <a:t>Làm giàu Dữ liệu và Kỹ thuật Trích xuất Đặc trưng</a:t>
            </a:r>
            <a:endParaRPr lang="en-US" sz="44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85813" y="1768793"/>
            <a:ext cx="673537" cy="673537"/>
          </a:xfrm>
          <a:prstGeom prst="rect">
            <a:avLst/>
          </a:prstGeom>
        </p:spPr>
      </p:pic>
      <p:sp>
        <p:nvSpPr>
          <p:cNvPr id="4" name="Text 1"/>
          <p:cNvSpPr/>
          <p:nvPr/>
        </p:nvSpPr>
        <p:spPr>
          <a:xfrm>
            <a:off x="785813" y="2722959"/>
            <a:ext cx="2806660" cy="350758"/>
          </a:xfrm>
          <a:prstGeom prst="rect">
            <a:avLst/>
          </a:prstGeom>
          <a:noFill/>
          <a:ln/>
        </p:spPr>
        <p:txBody>
          <a:bodyPr wrap="none" lIns="0" tIns="0" rIns="0" bIns="0" rtlCol="0" anchor="t"/>
          <a:lstStyle/>
          <a:p>
            <a:pPr algn="l"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Loại Diện tích</a:t>
            </a:r>
            <a:endParaRPr lang="en-US" sz="2200" dirty="0"/>
          </a:p>
        </p:txBody>
      </p:sp>
      <p:sp>
        <p:nvSpPr>
          <p:cNvPr id="5" name="Text 2"/>
          <p:cNvSpPr/>
          <p:nvPr/>
        </p:nvSpPr>
        <p:spPr>
          <a:xfrm>
            <a:off x="785813" y="3208377"/>
            <a:ext cx="4165759" cy="1077635"/>
          </a:xfrm>
          <a:prstGeom prst="rect">
            <a:avLst/>
          </a:prstGeom>
          <a:noFill/>
          <a:ln/>
        </p:spPr>
        <p:txBody>
          <a:bodyPr wrap="square" lIns="0" tIns="0" rIns="0" bIns="0" rtlCol="0" anchor="t"/>
          <a:lstStyle/>
          <a:p>
            <a:pPr algn="l" indent="0" marL="0">
              <a:lnSpc>
                <a:spcPts val="2800"/>
              </a:lnSpc>
              <a:buNone/>
            </a:pPr>
            <a:r>
              <a:rPr lang="en-US" sz="1750" dirty="0">
                <a:solidFill>
                  <a:srgbClr val="C7CDD6"/>
                </a:solidFill>
                <a:latin typeface="Inter" pitchFamily="34" charset="0"/>
                <a:ea typeface="Inter" pitchFamily="34" charset="-122"/>
                <a:cs typeface="Inter" pitchFamily="34" charset="-120"/>
              </a:rPr>
              <a:t>Phân loại phòng trọ theo các nhóm diện tích phổ biến (ví dụ: dưới 20m², 20-30m², trên 30m²).</a:t>
            </a:r>
            <a:endParaRPr lang="en-US" sz="17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32202" y="1768793"/>
            <a:ext cx="673537" cy="673537"/>
          </a:xfrm>
          <a:prstGeom prst="rect">
            <a:avLst/>
          </a:prstGeom>
        </p:spPr>
      </p:pic>
      <p:sp>
        <p:nvSpPr>
          <p:cNvPr id="7" name="Text 3"/>
          <p:cNvSpPr/>
          <p:nvPr/>
        </p:nvSpPr>
        <p:spPr>
          <a:xfrm>
            <a:off x="5232202" y="2722959"/>
            <a:ext cx="2806660" cy="350758"/>
          </a:xfrm>
          <a:prstGeom prst="rect">
            <a:avLst/>
          </a:prstGeom>
          <a:noFill/>
          <a:ln/>
        </p:spPr>
        <p:txBody>
          <a:bodyPr wrap="none" lIns="0" tIns="0" rIns="0" bIns="0" rtlCol="0" anchor="t"/>
          <a:lstStyle/>
          <a:p>
            <a:pPr algn="l"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Loại Khu vực</a:t>
            </a:r>
            <a:endParaRPr lang="en-US" sz="2200" dirty="0"/>
          </a:p>
        </p:txBody>
      </p:sp>
      <p:sp>
        <p:nvSpPr>
          <p:cNvPr id="8" name="Text 4"/>
          <p:cNvSpPr/>
          <p:nvPr/>
        </p:nvSpPr>
        <p:spPr>
          <a:xfrm>
            <a:off x="5232202" y="3208377"/>
            <a:ext cx="4165878" cy="1077635"/>
          </a:xfrm>
          <a:prstGeom prst="rect">
            <a:avLst/>
          </a:prstGeom>
          <a:noFill/>
          <a:ln/>
        </p:spPr>
        <p:txBody>
          <a:bodyPr wrap="square" lIns="0" tIns="0" rIns="0" bIns="0" rtlCol="0" anchor="t"/>
          <a:lstStyle/>
          <a:p>
            <a:pPr algn="l" indent="0" marL="0">
              <a:lnSpc>
                <a:spcPts val="2800"/>
              </a:lnSpc>
              <a:buNone/>
            </a:pPr>
            <a:r>
              <a:rPr lang="en-US" sz="1750" dirty="0">
                <a:solidFill>
                  <a:srgbClr val="C7CDD6"/>
                </a:solidFill>
                <a:latin typeface="Inter" pitchFamily="34" charset="0"/>
                <a:ea typeface="Inter" pitchFamily="34" charset="-122"/>
                <a:cs typeface="Inter" pitchFamily="34" charset="-120"/>
              </a:rPr>
              <a:t>Xác định các khu vực theo tính chất (ví dụ: khu dân cư, khu kinh doanh, gần trường học).</a:t>
            </a:r>
            <a:endParaRPr lang="en-US" sz="17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78710" y="1768793"/>
            <a:ext cx="673537" cy="673537"/>
          </a:xfrm>
          <a:prstGeom prst="rect">
            <a:avLst/>
          </a:prstGeom>
        </p:spPr>
      </p:pic>
      <p:sp>
        <p:nvSpPr>
          <p:cNvPr id="10" name="Text 5"/>
          <p:cNvSpPr/>
          <p:nvPr/>
        </p:nvSpPr>
        <p:spPr>
          <a:xfrm>
            <a:off x="9678710" y="2722959"/>
            <a:ext cx="2806660" cy="350758"/>
          </a:xfrm>
          <a:prstGeom prst="rect">
            <a:avLst/>
          </a:prstGeom>
          <a:noFill/>
          <a:ln/>
        </p:spPr>
        <p:txBody>
          <a:bodyPr wrap="none" lIns="0" tIns="0" rIns="0" bIns="0" rtlCol="0" anchor="t"/>
          <a:lstStyle/>
          <a:p>
            <a:pPr algn="l"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Loại Đường/Hẻm</a:t>
            </a:r>
            <a:endParaRPr lang="en-US" sz="2200" dirty="0"/>
          </a:p>
        </p:txBody>
      </p:sp>
      <p:sp>
        <p:nvSpPr>
          <p:cNvPr id="11" name="Text 6"/>
          <p:cNvSpPr/>
          <p:nvPr/>
        </p:nvSpPr>
        <p:spPr>
          <a:xfrm>
            <a:off x="9678710" y="3208377"/>
            <a:ext cx="4165878" cy="1077635"/>
          </a:xfrm>
          <a:prstGeom prst="rect">
            <a:avLst/>
          </a:prstGeom>
          <a:noFill/>
          <a:ln/>
        </p:spPr>
        <p:txBody>
          <a:bodyPr wrap="square" lIns="0" tIns="0" rIns="0" bIns="0" rtlCol="0" anchor="t"/>
          <a:lstStyle/>
          <a:p>
            <a:pPr algn="l" indent="0" marL="0">
              <a:lnSpc>
                <a:spcPts val="2800"/>
              </a:lnSpc>
              <a:buNone/>
            </a:pPr>
            <a:r>
              <a:rPr lang="en-US" sz="1750" dirty="0">
                <a:solidFill>
                  <a:srgbClr val="C7CDD6"/>
                </a:solidFill>
                <a:latin typeface="Inter" pitchFamily="34" charset="0"/>
                <a:ea typeface="Inter" pitchFamily="34" charset="-122"/>
                <a:cs typeface="Inter" pitchFamily="34" charset="-120"/>
              </a:rPr>
              <a:t>Phân biệt phòng trọ mặt tiền đường lớn, trong hẻm lớn, hay hẻm nhỏ để đánh giá vị trí.</a:t>
            </a:r>
            <a:endParaRPr lang="en-US" sz="17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5813" y="4734997"/>
            <a:ext cx="673537" cy="673537"/>
          </a:xfrm>
          <a:prstGeom prst="rect">
            <a:avLst/>
          </a:prstGeom>
        </p:spPr>
      </p:pic>
      <p:sp>
        <p:nvSpPr>
          <p:cNvPr id="13" name="Text 7"/>
          <p:cNvSpPr/>
          <p:nvPr/>
        </p:nvSpPr>
        <p:spPr>
          <a:xfrm>
            <a:off x="785813" y="5689163"/>
            <a:ext cx="3668673" cy="350758"/>
          </a:xfrm>
          <a:prstGeom prst="rect">
            <a:avLst/>
          </a:prstGeom>
          <a:noFill/>
          <a:ln/>
        </p:spPr>
        <p:txBody>
          <a:bodyPr wrap="none" lIns="0" tIns="0" rIns="0" bIns="0" rtlCol="0" anchor="t"/>
          <a:lstStyle/>
          <a:p>
            <a:pPr algn="l"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Khoảng cách đến Trung tâm</a:t>
            </a:r>
            <a:endParaRPr lang="en-US" sz="2200" dirty="0"/>
          </a:p>
        </p:txBody>
      </p:sp>
      <p:sp>
        <p:nvSpPr>
          <p:cNvPr id="14" name="Text 8"/>
          <p:cNvSpPr/>
          <p:nvPr/>
        </p:nvSpPr>
        <p:spPr>
          <a:xfrm>
            <a:off x="785813" y="6174581"/>
            <a:ext cx="4165759" cy="1077635"/>
          </a:xfrm>
          <a:prstGeom prst="rect">
            <a:avLst/>
          </a:prstGeom>
          <a:noFill/>
          <a:ln/>
        </p:spPr>
        <p:txBody>
          <a:bodyPr wrap="square" lIns="0" tIns="0" rIns="0" bIns="0" rtlCol="0" anchor="t"/>
          <a:lstStyle/>
          <a:p>
            <a:pPr algn="l" indent="0" marL="0">
              <a:lnSpc>
                <a:spcPts val="2800"/>
              </a:lnSpc>
              <a:buNone/>
            </a:pPr>
            <a:r>
              <a:rPr lang="en-US" sz="1750" dirty="0">
                <a:solidFill>
                  <a:srgbClr val="C7CDD6"/>
                </a:solidFill>
                <a:latin typeface="Inter" pitchFamily="34" charset="0"/>
                <a:ea typeface="Inter" pitchFamily="34" charset="-122"/>
                <a:cs typeface="Inter" pitchFamily="34" charset="-120"/>
              </a:rPr>
              <a:t>Tính toán khoảng cách từ vị trí phòng trọ đến các khu vực trung tâm hoặc tiện ích chính.</a:t>
            </a:r>
            <a:endParaRPr lang="en-US" sz="175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232202" y="4734997"/>
            <a:ext cx="673537" cy="673537"/>
          </a:xfrm>
          <a:prstGeom prst="rect">
            <a:avLst/>
          </a:prstGeom>
        </p:spPr>
      </p:pic>
      <p:sp>
        <p:nvSpPr>
          <p:cNvPr id="16" name="Text 9"/>
          <p:cNvSpPr/>
          <p:nvPr/>
        </p:nvSpPr>
        <p:spPr>
          <a:xfrm>
            <a:off x="5232202" y="5689163"/>
            <a:ext cx="2806660" cy="350758"/>
          </a:xfrm>
          <a:prstGeom prst="rect">
            <a:avLst/>
          </a:prstGeom>
          <a:noFill/>
          <a:ln/>
        </p:spPr>
        <p:txBody>
          <a:bodyPr wrap="none" lIns="0" tIns="0" rIns="0" bIns="0" rtlCol="0" anchor="t"/>
          <a:lstStyle/>
          <a:p>
            <a:pPr algn="l"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Tiện nghi Trích xuất</a:t>
            </a:r>
            <a:endParaRPr lang="en-US" sz="2200" dirty="0"/>
          </a:p>
        </p:txBody>
      </p:sp>
      <p:sp>
        <p:nvSpPr>
          <p:cNvPr id="17" name="Text 10"/>
          <p:cNvSpPr/>
          <p:nvPr/>
        </p:nvSpPr>
        <p:spPr>
          <a:xfrm>
            <a:off x="5232202" y="6174581"/>
            <a:ext cx="4165878" cy="1436846"/>
          </a:xfrm>
          <a:prstGeom prst="rect">
            <a:avLst/>
          </a:prstGeom>
          <a:noFill/>
          <a:ln/>
        </p:spPr>
        <p:txBody>
          <a:bodyPr wrap="square" lIns="0" tIns="0" rIns="0" bIns="0" rtlCol="0" anchor="t"/>
          <a:lstStyle/>
          <a:p>
            <a:pPr algn="l" indent="0" marL="0">
              <a:lnSpc>
                <a:spcPts val="2800"/>
              </a:lnSpc>
              <a:buNone/>
            </a:pPr>
            <a:r>
              <a:rPr lang="en-US" sz="1750" dirty="0">
                <a:solidFill>
                  <a:srgbClr val="C7CDD6"/>
                </a:solidFill>
                <a:latin typeface="Inter" pitchFamily="34" charset="0"/>
                <a:ea typeface="Inter" pitchFamily="34" charset="-122"/>
                <a:cs typeface="Inter" pitchFamily="34" charset="-120"/>
              </a:rPr>
              <a:t>Sử dụng kỹ thuật xử lý ngôn ngữ tự nhiên (NLP) để trích xuất các tiện nghi như điều hòa, wifi, an ninh từ chuỗi mô tả.</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21638" y="566976"/>
            <a:ext cx="8247221" cy="644366"/>
          </a:xfrm>
          <a:prstGeom prst="rect">
            <a:avLst/>
          </a:prstGeom>
          <a:noFill/>
          <a:ln/>
        </p:spPr>
        <p:txBody>
          <a:bodyPr wrap="none" lIns="0" tIns="0" rIns="0" bIns="0" rtlCol="0" anchor="t"/>
          <a:lstStyle/>
          <a:p>
            <a:pPr algn="l" indent="0" marL="0">
              <a:lnSpc>
                <a:spcPts val="5050"/>
              </a:lnSpc>
              <a:buNone/>
            </a:pPr>
            <a:r>
              <a:rPr lang="en-US" sz="4050" dirty="0">
                <a:solidFill>
                  <a:srgbClr val="EFD5FA"/>
                </a:solidFill>
                <a:latin typeface="Instrument Sans Medium" pitchFamily="34" charset="0"/>
                <a:ea typeface="Instrument Sans Medium" pitchFamily="34" charset="-122"/>
                <a:cs typeface="Instrument Sans Medium" pitchFamily="34" charset="-120"/>
              </a:rPr>
              <a:t>Xử lý Ngoại lai: Đảm bảo Độ tin cậy</a:t>
            </a:r>
            <a:endParaRPr lang="en-US" sz="4050" dirty="0"/>
          </a:p>
        </p:txBody>
      </p:sp>
      <p:sp>
        <p:nvSpPr>
          <p:cNvPr id="3" name="Text 1"/>
          <p:cNvSpPr/>
          <p:nvPr/>
        </p:nvSpPr>
        <p:spPr>
          <a:xfrm>
            <a:off x="721638" y="1706047"/>
            <a:ext cx="6342102" cy="1319689"/>
          </a:xfrm>
          <a:prstGeom prst="rect">
            <a:avLst/>
          </a:prstGeom>
          <a:noFill/>
          <a:ln/>
        </p:spPr>
        <p:txBody>
          <a:bodyPr wrap="square" lIns="0" tIns="0" rIns="0" bIns="0" rtlCol="0" anchor="t"/>
          <a:lstStyle/>
          <a:p>
            <a:pPr algn="l" indent="0" marL="0">
              <a:lnSpc>
                <a:spcPts val="2550"/>
              </a:lnSpc>
              <a:buNone/>
            </a:pPr>
            <a:r>
              <a:rPr lang="en-US" sz="1600" dirty="0">
                <a:solidFill>
                  <a:srgbClr val="C7CDD6"/>
                </a:solidFill>
                <a:latin typeface="Inter" pitchFamily="34" charset="0"/>
                <a:ea typeface="Inter" pitchFamily="34" charset="-122"/>
                <a:cs typeface="Inter" pitchFamily="34" charset="-120"/>
              </a:rPr>
              <a:t>Ngoại lai là những điểm dữ liệu nằm ngoài phạm vi giá trị thông thường, có thể làm sai lệch các phân tích thống kê và mô hình dự đoán. Việc xác định và xử lý ngoại lai là bước thiết yếu để đảm bảo dữ liệu ổn định và tin cậy.</a:t>
            </a:r>
            <a:endParaRPr lang="en-US" sz="1600" dirty="0"/>
          </a:p>
        </p:txBody>
      </p:sp>
      <p:sp>
        <p:nvSpPr>
          <p:cNvPr id="4" name="Text 2"/>
          <p:cNvSpPr/>
          <p:nvPr/>
        </p:nvSpPr>
        <p:spPr>
          <a:xfrm>
            <a:off x="721638" y="3231833"/>
            <a:ext cx="4668322" cy="322183"/>
          </a:xfrm>
          <a:prstGeom prst="rect">
            <a:avLst/>
          </a:prstGeom>
          <a:noFill/>
          <a:ln/>
        </p:spPr>
        <p:txBody>
          <a:bodyPr wrap="none" lIns="0" tIns="0" rIns="0" bIns="0" rtlCol="0" anchor="t"/>
          <a:lstStyle/>
          <a:p>
            <a:pPr algn="l" indent="0" marL="0">
              <a:lnSpc>
                <a:spcPts val="2500"/>
              </a:lnSpc>
              <a:buNone/>
            </a:pPr>
            <a:r>
              <a:rPr lang="en-US" sz="2000" dirty="0">
                <a:solidFill>
                  <a:srgbClr val="EFD5FA"/>
                </a:solidFill>
                <a:latin typeface="Instrument Sans Medium" pitchFamily="34" charset="0"/>
                <a:ea typeface="Instrument Sans Medium" pitchFamily="34" charset="-122"/>
                <a:cs typeface="Instrument Sans Medium" pitchFamily="34" charset="-120"/>
              </a:rPr>
              <a:t>Phương pháp IQR (Interquartile Range)</a:t>
            </a:r>
            <a:endParaRPr lang="en-US" sz="2000" dirty="0"/>
          </a:p>
        </p:txBody>
      </p:sp>
      <p:sp>
        <p:nvSpPr>
          <p:cNvPr id="5" name="Text 3"/>
          <p:cNvSpPr/>
          <p:nvPr/>
        </p:nvSpPr>
        <p:spPr>
          <a:xfrm>
            <a:off x="721638" y="3760113"/>
            <a:ext cx="6342102" cy="1319689"/>
          </a:xfrm>
          <a:prstGeom prst="rect">
            <a:avLst/>
          </a:prstGeom>
          <a:noFill/>
          <a:ln/>
        </p:spPr>
        <p:txBody>
          <a:bodyPr wrap="square" lIns="0" tIns="0" rIns="0" bIns="0" rtlCol="0" anchor="t"/>
          <a:lstStyle/>
          <a:p>
            <a:pPr algn="l" indent="0" marL="0">
              <a:lnSpc>
                <a:spcPts val="2550"/>
              </a:lnSpc>
              <a:buNone/>
            </a:pPr>
            <a:r>
              <a:rPr lang="en-US" sz="1600" dirty="0">
                <a:solidFill>
                  <a:srgbClr val="C7CDD6"/>
                </a:solidFill>
                <a:latin typeface="Inter" pitchFamily="34" charset="0"/>
                <a:ea typeface="Inter" pitchFamily="34" charset="-122"/>
                <a:cs typeface="Inter" pitchFamily="34" charset="-120"/>
              </a:rPr>
              <a:t>Chúng tôi sử dụng phương pháp IQR để phát hiện và loại bỏ ngoại lai. Phương pháp này dựa trên khoảng tứ phân vị, ít bị ảnh hưởng bởi các giá trị cực đoan hơn so với phương pháp độ lệch chuẩn.</a:t>
            </a:r>
            <a:endParaRPr lang="en-US" sz="1600" dirty="0"/>
          </a:p>
        </p:txBody>
      </p:sp>
      <p:sp>
        <p:nvSpPr>
          <p:cNvPr id="6" name="Text 4"/>
          <p:cNvSpPr/>
          <p:nvPr/>
        </p:nvSpPr>
        <p:spPr>
          <a:xfrm>
            <a:off x="721638" y="5265301"/>
            <a:ext cx="6342102" cy="329922"/>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C7CDD6"/>
                </a:solidFill>
                <a:latin typeface="Inter" pitchFamily="34" charset="0"/>
                <a:ea typeface="Inter" pitchFamily="34" charset="-122"/>
                <a:cs typeface="Inter" pitchFamily="34" charset="-120"/>
              </a:rPr>
              <a:t>Xác định Q1 (tứ phân vị thứ nhất) và Q3 (tứ phân vị thứ ba).</a:t>
            </a:r>
            <a:endParaRPr lang="en-US" sz="1600" dirty="0"/>
          </a:p>
        </p:txBody>
      </p:sp>
      <p:sp>
        <p:nvSpPr>
          <p:cNvPr id="7" name="Text 5"/>
          <p:cNvSpPr/>
          <p:nvPr/>
        </p:nvSpPr>
        <p:spPr>
          <a:xfrm>
            <a:off x="721638" y="5667375"/>
            <a:ext cx="6342102" cy="329922"/>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C7CDD6"/>
                </a:solidFill>
                <a:latin typeface="Inter" pitchFamily="34" charset="0"/>
                <a:ea typeface="Inter" pitchFamily="34" charset="-122"/>
                <a:cs typeface="Inter" pitchFamily="34" charset="-120"/>
              </a:rPr>
              <a:t>Tính IQR = Q3 - Q1.</a:t>
            </a:r>
            <a:endParaRPr lang="en-US" sz="1600" dirty="0"/>
          </a:p>
        </p:txBody>
      </p:sp>
      <p:sp>
        <p:nvSpPr>
          <p:cNvPr id="8" name="Text 6"/>
          <p:cNvSpPr/>
          <p:nvPr/>
        </p:nvSpPr>
        <p:spPr>
          <a:xfrm>
            <a:off x="721638" y="6069449"/>
            <a:ext cx="6342102" cy="659844"/>
          </a:xfrm>
          <a:prstGeom prst="rect">
            <a:avLst/>
          </a:prstGeom>
          <a:noFill/>
          <a:ln/>
        </p:spPr>
        <p:txBody>
          <a:bodyPr wrap="square" lIns="0" tIns="0" rIns="0" bIns="0" rtlCol="0" anchor="t"/>
          <a:lstStyle/>
          <a:p>
            <a:pPr algn="l" marL="342900" indent="-342900">
              <a:lnSpc>
                <a:spcPts val="2550"/>
              </a:lnSpc>
              <a:buSzPct val="100000"/>
              <a:buChar char="•"/>
            </a:pPr>
            <a:r>
              <a:rPr lang="en-US" sz="1600" dirty="0">
                <a:solidFill>
                  <a:srgbClr val="C7CDD6"/>
                </a:solidFill>
                <a:latin typeface="Inter" pitchFamily="34" charset="0"/>
                <a:ea typeface="Inter" pitchFamily="34" charset="-122"/>
                <a:cs typeface="Inter" pitchFamily="34" charset="-120"/>
              </a:rPr>
              <a:t>Xác định giới hạn trên và dưới để loại bỏ các điểm dữ liệu nằm ngoài.</a:t>
            </a:r>
            <a:endParaRPr lang="en-US" sz="1600" dirty="0"/>
          </a:p>
        </p:txBody>
      </p:sp>
      <p:pic>
        <p:nvPicPr>
          <p:cNvPr id="9" name="Image 0" descr="preencoded.png">    </p:cNvPr>
          <p:cNvPicPr>
            <a:picLocks noChangeAspect="1"/>
          </p:cNvPicPr>
          <p:nvPr/>
        </p:nvPicPr>
        <p:blipFill>
          <a:blip r:embed="rId1"/>
          <a:stretch>
            <a:fillRect/>
          </a:stretch>
        </p:blipFill>
        <p:spPr>
          <a:xfrm>
            <a:off x="7574280" y="1752481"/>
            <a:ext cx="6342102" cy="634210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522803" y="897731"/>
            <a:ext cx="6823829" cy="466844"/>
          </a:xfrm>
          <a:prstGeom prst="rect">
            <a:avLst/>
          </a:prstGeom>
          <a:noFill/>
          <a:ln/>
        </p:spPr>
        <p:txBody>
          <a:bodyPr wrap="none" lIns="0" tIns="0" rIns="0" bIns="0" rtlCol="0" anchor="t"/>
          <a:lstStyle/>
          <a:p>
            <a:pPr algn="l" indent="0" marL="0">
              <a:lnSpc>
                <a:spcPts val="3650"/>
              </a:lnSpc>
              <a:buNone/>
            </a:pPr>
            <a:r>
              <a:rPr lang="en-US" sz="2900" dirty="0">
                <a:solidFill>
                  <a:srgbClr val="EFD5FA"/>
                </a:solidFill>
                <a:latin typeface="Instrument Sans Medium" pitchFamily="34" charset="0"/>
                <a:ea typeface="Instrument Sans Medium" pitchFamily="34" charset="-122"/>
                <a:cs typeface="Instrument Sans Medium" pitchFamily="34" charset="-120"/>
              </a:rPr>
              <a:t>Thống kê Mô tả và Insight về Thị trường</a:t>
            </a:r>
            <a:endParaRPr lang="en-US" sz="2900" dirty="0"/>
          </a:p>
        </p:txBody>
      </p:sp>
      <p:sp>
        <p:nvSpPr>
          <p:cNvPr id="4" name="Shape 1"/>
          <p:cNvSpPr/>
          <p:nvPr/>
        </p:nvSpPr>
        <p:spPr>
          <a:xfrm>
            <a:off x="522803" y="1812488"/>
            <a:ext cx="8098393" cy="1099899"/>
          </a:xfrm>
          <a:prstGeom prst="roundRect">
            <a:avLst>
              <a:gd name="adj" fmla="val 6651"/>
            </a:avLst>
          </a:prstGeom>
          <a:solidFill>
            <a:srgbClr val="242429"/>
          </a:solidFill>
          <a:ln/>
        </p:spPr>
      </p:sp>
      <p:sp>
        <p:nvSpPr>
          <p:cNvPr id="5" name="Shape 2"/>
          <p:cNvSpPr/>
          <p:nvPr/>
        </p:nvSpPr>
        <p:spPr>
          <a:xfrm>
            <a:off x="522803" y="1797248"/>
            <a:ext cx="8098393" cy="60960"/>
          </a:xfrm>
          <a:prstGeom prst="roundRect">
            <a:avLst>
              <a:gd name="adj" fmla="val 36756"/>
            </a:avLst>
          </a:prstGeom>
          <a:solidFill>
            <a:srgbClr val="FDC4C4"/>
          </a:solidFill>
          <a:ln/>
        </p:spPr>
      </p:sp>
      <p:sp>
        <p:nvSpPr>
          <p:cNvPr id="6" name="Shape 3"/>
          <p:cNvSpPr/>
          <p:nvPr/>
        </p:nvSpPr>
        <p:spPr>
          <a:xfrm>
            <a:off x="4347984" y="1588532"/>
            <a:ext cx="448032" cy="448032"/>
          </a:xfrm>
          <a:prstGeom prst="roundRect">
            <a:avLst>
              <a:gd name="adj" fmla="val 204093"/>
            </a:avLst>
          </a:prstGeom>
          <a:solidFill>
            <a:srgbClr val="FDC4C4"/>
          </a:solidFill>
          <a:ln/>
        </p:spPr>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82405" y="1722953"/>
            <a:ext cx="179189" cy="179189"/>
          </a:xfrm>
          <a:prstGeom prst="rect">
            <a:avLst/>
          </a:prstGeom>
        </p:spPr>
      </p:pic>
      <p:sp>
        <p:nvSpPr>
          <p:cNvPr id="8" name="Text 4"/>
          <p:cNvSpPr/>
          <p:nvPr/>
        </p:nvSpPr>
        <p:spPr>
          <a:xfrm>
            <a:off x="687348" y="2185868"/>
            <a:ext cx="1867138" cy="233363"/>
          </a:xfrm>
          <a:prstGeom prst="rect">
            <a:avLst/>
          </a:prstGeom>
          <a:noFill/>
          <a:ln/>
        </p:spPr>
        <p:txBody>
          <a:bodyPr wrap="none" lIns="0" tIns="0" rIns="0" bIns="0" rtlCol="0" anchor="t"/>
          <a:lstStyle/>
          <a:p>
            <a:pPr algn="l" indent="0" marL="0">
              <a:lnSpc>
                <a:spcPts val="1800"/>
              </a:lnSpc>
              <a:buNone/>
            </a:pPr>
            <a:r>
              <a:rPr lang="en-US" sz="1450" dirty="0">
                <a:solidFill>
                  <a:srgbClr val="C7CDD6"/>
                </a:solidFill>
                <a:latin typeface="Instrument Sans Medium" pitchFamily="34" charset="0"/>
                <a:ea typeface="Instrument Sans Medium" pitchFamily="34" charset="-122"/>
                <a:cs typeface="Instrument Sans Medium" pitchFamily="34" charset="-120"/>
              </a:rPr>
              <a:t>Phân bố Giá thuê</a:t>
            </a:r>
            <a:endParaRPr lang="en-US" sz="1450" dirty="0"/>
          </a:p>
        </p:txBody>
      </p:sp>
      <p:sp>
        <p:nvSpPr>
          <p:cNvPr id="9" name="Text 5"/>
          <p:cNvSpPr/>
          <p:nvPr/>
        </p:nvSpPr>
        <p:spPr>
          <a:xfrm>
            <a:off x="687348" y="2508766"/>
            <a:ext cx="7769304" cy="239078"/>
          </a:xfrm>
          <a:prstGeom prst="rect">
            <a:avLst/>
          </a:prstGeom>
          <a:noFill/>
          <a:ln/>
        </p:spPr>
        <p:txBody>
          <a:bodyPr wrap="none" lIns="0" tIns="0" rIns="0" bIns="0" rtlCol="0" anchor="t"/>
          <a:lstStyle/>
          <a:p>
            <a:pPr algn="l" indent="0" marL="0">
              <a:lnSpc>
                <a:spcPts val="1850"/>
              </a:lnSpc>
              <a:buNone/>
            </a:pPr>
            <a:r>
              <a:rPr lang="en-US" sz="1150" dirty="0">
                <a:solidFill>
                  <a:srgbClr val="C7CDD6"/>
                </a:solidFill>
                <a:latin typeface="Inter" pitchFamily="34" charset="0"/>
                <a:ea typeface="Inter" pitchFamily="34" charset="-122"/>
                <a:cs typeface="Inter" pitchFamily="34" charset="-120"/>
              </a:rPr>
              <a:t>Giá thuê phòng trọ tập trung mạnh ở mức </a:t>
            </a:r>
            <a:pPr algn="l" indent="0" marL="0">
              <a:lnSpc>
                <a:spcPts val="1850"/>
              </a:lnSpc>
              <a:buNone/>
            </a:pPr>
            <a:r>
              <a:rPr lang="en-US" sz="1150" dirty="0">
                <a:solidFill>
                  <a:srgbClr val="FDC4C4"/>
                </a:solidFill>
                <a:latin typeface="Inter" pitchFamily="34" charset="0"/>
                <a:ea typeface="Inter" pitchFamily="34" charset="-122"/>
                <a:cs typeface="Inter" pitchFamily="34" charset="-120"/>
              </a:rPr>
              <a:t>2 - 5 triệu VND</a:t>
            </a:r>
            <a:pPr algn="l" indent="0" marL="0">
              <a:lnSpc>
                <a:spcPts val="1850"/>
              </a:lnSpc>
              <a:buNone/>
            </a:pPr>
            <a:r>
              <a:rPr lang="en-US" sz="1150" dirty="0">
                <a:solidFill>
                  <a:srgbClr val="C7CDD6"/>
                </a:solidFill>
                <a:latin typeface="Inter" pitchFamily="34" charset="0"/>
                <a:ea typeface="Inter" pitchFamily="34" charset="-122"/>
                <a:cs typeface="Inter" pitchFamily="34" charset="-120"/>
              </a:rPr>
              <a:t>, cho thấy phân khúc phổ biến nhất trên thị trường.</a:t>
            </a:r>
            <a:endParaRPr lang="en-US" sz="1150" dirty="0"/>
          </a:p>
        </p:txBody>
      </p:sp>
      <p:sp>
        <p:nvSpPr>
          <p:cNvPr id="10" name="Shape 6"/>
          <p:cNvSpPr/>
          <p:nvPr/>
        </p:nvSpPr>
        <p:spPr>
          <a:xfrm>
            <a:off x="522803" y="3285649"/>
            <a:ext cx="8098393" cy="1099899"/>
          </a:xfrm>
          <a:prstGeom prst="roundRect">
            <a:avLst>
              <a:gd name="adj" fmla="val 6651"/>
            </a:avLst>
          </a:prstGeom>
          <a:solidFill>
            <a:srgbClr val="242429"/>
          </a:solidFill>
          <a:ln/>
        </p:spPr>
      </p:sp>
      <p:sp>
        <p:nvSpPr>
          <p:cNvPr id="11" name="Shape 7"/>
          <p:cNvSpPr/>
          <p:nvPr/>
        </p:nvSpPr>
        <p:spPr>
          <a:xfrm>
            <a:off x="522803" y="3270409"/>
            <a:ext cx="8098393" cy="60960"/>
          </a:xfrm>
          <a:prstGeom prst="roundRect">
            <a:avLst>
              <a:gd name="adj" fmla="val 36756"/>
            </a:avLst>
          </a:prstGeom>
          <a:solidFill>
            <a:srgbClr val="FDC4C4"/>
          </a:solidFill>
          <a:ln/>
        </p:spPr>
      </p:sp>
      <p:sp>
        <p:nvSpPr>
          <p:cNvPr id="12" name="Shape 8"/>
          <p:cNvSpPr/>
          <p:nvPr/>
        </p:nvSpPr>
        <p:spPr>
          <a:xfrm>
            <a:off x="4347984" y="3061692"/>
            <a:ext cx="448032" cy="448032"/>
          </a:xfrm>
          <a:prstGeom prst="roundRect">
            <a:avLst>
              <a:gd name="adj" fmla="val 204093"/>
            </a:avLst>
          </a:prstGeom>
          <a:solidFill>
            <a:srgbClr val="FDC4C4"/>
          </a:solidFill>
          <a:ln/>
        </p:spPr>
      </p:sp>
      <p:pic>
        <p:nvPicPr>
          <p:cNvPr id="13"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82405" y="3196114"/>
            <a:ext cx="179189" cy="179189"/>
          </a:xfrm>
          <a:prstGeom prst="rect">
            <a:avLst/>
          </a:prstGeom>
        </p:spPr>
      </p:pic>
      <p:sp>
        <p:nvSpPr>
          <p:cNvPr id="14" name="Text 9"/>
          <p:cNvSpPr/>
          <p:nvPr/>
        </p:nvSpPr>
        <p:spPr>
          <a:xfrm>
            <a:off x="687348" y="3659029"/>
            <a:ext cx="1867138" cy="233363"/>
          </a:xfrm>
          <a:prstGeom prst="rect">
            <a:avLst/>
          </a:prstGeom>
          <a:noFill/>
          <a:ln/>
        </p:spPr>
        <p:txBody>
          <a:bodyPr wrap="none" lIns="0" tIns="0" rIns="0" bIns="0" rtlCol="0" anchor="t"/>
          <a:lstStyle/>
          <a:p>
            <a:pPr algn="l" indent="0" marL="0">
              <a:lnSpc>
                <a:spcPts val="1800"/>
              </a:lnSpc>
              <a:buNone/>
            </a:pPr>
            <a:r>
              <a:rPr lang="en-US" sz="1450" dirty="0">
                <a:solidFill>
                  <a:srgbClr val="C7CDD6"/>
                </a:solidFill>
                <a:latin typeface="Instrument Sans Medium" pitchFamily="34" charset="0"/>
                <a:ea typeface="Instrument Sans Medium" pitchFamily="34" charset="-122"/>
                <a:cs typeface="Instrument Sans Medium" pitchFamily="34" charset="-120"/>
              </a:rPr>
              <a:t>Diện tích Phổ biến</a:t>
            </a:r>
            <a:endParaRPr lang="en-US" sz="1450" dirty="0"/>
          </a:p>
        </p:txBody>
      </p:sp>
      <p:sp>
        <p:nvSpPr>
          <p:cNvPr id="15" name="Text 10"/>
          <p:cNvSpPr/>
          <p:nvPr/>
        </p:nvSpPr>
        <p:spPr>
          <a:xfrm>
            <a:off x="687348" y="3981926"/>
            <a:ext cx="7769304" cy="239078"/>
          </a:xfrm>
          <a:prstGeom prst="rect">
            <a:avLst/>
          </a:prstGeom>
          <a:noFill/>
          <a:ln/>
        </p:spPr>
        <p:txBody>
          <a:bodyPr wrap="none" lIns="0" tIns="0" rIns="0" bIns="0" rtlCol="0" anchor="t"/>
          <a:lstStyle/>
          <a:p>
            <a:pPr algn="l" indent="0" marL="0">
              <a:lnSpc>
                <a:spcPts val="1850"/>
              </a:lnSpc>
              <a:buNone/>
            </a:pPr>
            <a:r>
              <a:rPr lang="en-US" sz="1150" dirty="0">
                <a:solidFill>
                  <a:srgbClr val="C7CDD6"/>
                </a:solidFill>
                <a:latin typeface="Inter" pitchFamily="34" charset="0"/>
                <a:ea typeface="Inter" pitchFamily="34" charset="-122"/>
                <a:cs typeface="Inter" pitchFamily="34" charset="-120"/>
              </a:rPr>
              <a:t>Diện tích phổ biến nhất của các phòng trọ dao động từ </a:t>
            </a:r>
            <a:pPr algn="l" indent="0" marL="0">
              <a:lnSpc>
                <a:spcPts val="1850"/>
              </a:lnSpc>
              <a:buNone/>
            </a:pPr>
            <a:r>
              <a:rPr lang="en-US" sz="1150" dirty="0">
                <a:solidFill>
                  <a:srgbClr val="FDC4C4"/>
                </a:solidFill>
                <a:latin typeface="Inter" pitchFamily="34" charset="0"/>
                <a:ea typeface="Inter" pitchFamily="34" charset="-122"/>
                <a:cs typeface="Inter" pitchFamily="34" charset="-120"/>
              </a:rPr>
              <a:t>25 - 35m²</a:t>
            </a:r>
            <a:pPr algn="l" indent="0" marL="0">
              <a:lnSpc>
                <a:spcPts val="1850"/>
              </a:lnSpc>
              <a:buNone/>
            </a:pPr>
            <a:r>
              <a:rPr lang="en-US" sz="1150" dirty="0">
                <a:solidFill>
                  <a:srgbClr val="C7CDD6"/>
                </a:solidFill>
                <a:latin typeface="Inter" pitchFamily="34" charset="0"/>
                <a:ea typeface="Inter" pitchFamily="34" charset="-122"/>
                <a:cs typeface="Inter" pitchFamily="34" charset="-120"/>
              </a:rPr>
              <a:t>, phù hợp với nhu cầu sinh hoạt cơ bản.</a:t>
            </a:r>
            <a:endParaRPr lang="en-US" sz="1150" dirty="0"/>
          </a:p>
        </p:txBody>
      </p:sp>
      <p:sp>
        <p:nvSpPr>
          <p:cNvPr id="16" name="Shape 11"/>
          <p:cNvSpPr/>
          <p:nvPr/>
        </p:nvSpPr>
        <p:spPr>
          <a:xfrm>
            <a:off x="522803" y="4758809"/>
            <a:ext cx="8098393" cy="1099899"/>
          </a:xfrm>
          <a:prstGeom prst="roundRect">
            <a:avLst>
              <a:gd name="adj" fmla="val 6651"/>
            </a:avLst>
          </a:prstGeom>
          <a:solidFill>
            <a:srgbClr val="242429"/>
          </a:solidFill>
          <a:ln/>
        </p:spPr>
      </p:sp>
      <p:sp>
        <p:nvSpPr>
          <p:cNvPr id="17" name="Shape 12"/>
          <p:cNvSpPr/>
          <p:nvPr/>
        </p:nvSpPr>
        <p:spPr>
          <a:xfrm>
            <a:off x="522803" y="4743569"/>
            <a:ext cx="8098393" cy="60960"/>
          </a:xfrm>
          <a:prstGeom prst="roundRect">
            <a:avLst>
              <a:gd name="adj" fmla="val 36756"/>
            </a:avLst>
          </a:prstGeom>
          <a:solidFill>
            <a:srgbClr val="FDC4C4"/>
          </a:solidFill>
          <a:ln/>
        </p:spPr>
      </p:sp>
      <p:sp>
        <p:nvSpPr>
          <p:cNvPr id="18" name="Shape 13"/>
          <p:cNvSpPr/>
          <p:nvPr/>
        </p:nvSpPr>
        <p:spPr>
          <a:xfrm>
            <a:off x="4347984" y="4534853"/>
            <a:ext cx="448032" cy="448032"/>
          </a:xfrm>
          <a:prstGeom prst="roundRect">
            <a:avLst>
              <a:gd name="adj" fmla="val 204093"/>
            </a:avLst>
          </a:prstGeom>
          <a:solidFill>
            <a:srgbClr val="FDC4C4"/>
          </a:solidFill>
          <a:ln/>
        </p:spPr>
      </p:sp>
      <p:pic>
        <p:nvPicPr>
          <p:cNvPr id="19"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82405" y="4669274"/>
            <a:ext cx="179189" cy="179189"/>
          </a:xfrm>
          <a:prstGeom prst="rect">
            <a:avLst/>
          </a:prstGeom>
        </p:spPr>
      </p:pic>
      <p:sp>
        <p:nvSpPr>
          <p:cNvPr id="20" name="Text 14"/>
          <p:cNvSpPr/>
          <p:nvPr/>
        </p:nvSpPr>
        <p:spPr>
          <a:xfrm>
            <a:off x="687348" y="5132189"/>
            <a:ext cx="1867138" cy="233363"/>
          </a:xfrm>
          <a:prstGeom prst="rect">
            <a:avLst/>
          </a:prstGeom>
          <a:noFill/>
          <a:ln/>
        </p:spPr>
        <p:txBody>
          <a:bodyPr wrap="none" lIns="0" tIns="0" rIns="0" bIns="0" rtlCol="0" anchor="t"/>
          <a:lstStyle/>
          <a:p>
            <a:pPr algn="l" indent="0" marL="0">
              <a:lnSpc>
                <a:spcPts val="1800"/>
              </a:lnSpc>
              <a:buNone/>
            </a:pPr>
            <a:r>
              <a:rPr lang="en-US" sz="1450" dirty="0">
                <a:solidFill>
                  <a:srgbClr val="C7CDD6"/>
                </a:solidFill>
                <a:latin typeface="Instrument Sans Medium" pitchFamily="34" charset="0"/>
                <a:ea typeface="Instrument Sans Medium" pitchFamily="34" charset="-122"/>
                <a:cs typeface="Instrument Sans Medium" pitchFamily="34" charset="-120"/>
              </a:rPr>
              <a:t>Giá theo Quận</a:t>
            </a:r>
            <a:endParaRPr lang="en-US" sz="1450" dirty="0"/>
          </a:p>
        </p:txBody>
      </p:sp>
      <p:sp>
        <p:nvSpPr>
          <p:cNvPr id="21" name="Text 15"/>
          <p:cNvSpPr/>
          <p:nvPr/>
        </p:nvSpPr>
        <p:spPr>
          <a:xfrm>
            <a:off x="687348" y="5455087"/>
            <a:ext cx="7769304" cy="239078"/>
          </a:xfrm>
          <a:prstGeom prst="rect">
            <a:avLst/>
          </a:prstGeom>
          <a:noFill/>
          <a:ln/>
        </p:spPr>
        <p:txBody>
          <a:bodyPr wrap="none" lIns="0" tIns="0" rIns="0" bIns="0" rtlCol="0" anchor="t"/>
          <a:lstStyle/>
          <a:p>
            <a:pPr algn="l" indent="0" marL="0">
              <a:lnSpc>
                <a:spcPts val="1850"/>
              </a:lnSpc>
              <a:buNone/>
            </a:pPr>
            <a:r>
              <a:rPr lang="en-US" sz="1150" dirty="0">
                <a:solidFill>
                  <a:srgbClr val="C7CDD6"/>
                </a:solidFill>
                <a:latin typeface="Inter" pitchFamily="34" charset="0"/>
                <a:ea typeface="Inter" pitchFamily="34" charset="-122"/>
                <a:cs typeface="Inter" pitchFamily="34" charset="-120"/>
              </a:rPr>
              <a:t>Các khu vực trung tâm như Quận 1, Quận 3, Bình Thạnh có </a:t>
            </a:r>
            <a:pPr algn="l" indent="0" marL="0">
              <a:lnSpc>
                <a:spcPts val="1850"/>
              </a:lnSpc>
              <a:buNone/>
            </a:pPr>
            <a:r>
              <a:rPr lang="en-US" sz="1150" dirty="0">
                <a:solidFill>
                  <a:srgbClr val="FDC4C4"/>
                </a:solidFill>
                <a:latin typeface="Inter" pitchFamily="34" charset="0"/>
                <a:ea typeface="Inter" pitchFamily="34" charset="-122"/>
                <a:cs typeface="Inter" pitchFamily="34" charset="-120"/>
              </a:rPr>
              <a:t>giá thuê cao nhất</a:t>
            </a:r>
            <a:pPr algn="l" indent="0" marL="0">
              <a:lnSpc>
                <a:spcPts val="1850"/>
              </a:lnSpc>
              <a:buNone/>
            </a:pPr>
            <a:r>
              <a:rPr lang="en-US" sz="1150" dirty="0">
                <a:solidFill>
                  <a:srgbClr val="C7CDD6"/>
                </a:solidFill>
                <a:latin typeface="Inter" pitchFamily="34" charset="0"/>
                <a:ea typeface="Inter" pitchFamily="34" charset="-122"/>
                <a:cs typeface="Inter" pitchFamily="34" charset="-120"/>
              </a:rPr>
              <a:t>, phản ánh giá trị vị trí.</a:t>
            </a:r>
            <a:endParaRPr lang="en-US" sz="1150" dirty="0"/>
          </a:p>
        </p:txBody>
      </p:sp>
      <p:sp>
        <p:nvSpPr>
          <p:cNvPr id="22" name="Shape 16"/>
          <p:cNvSpPr/>
          <p:nvPr/>
        </p:nvSpPr>
        <p:spPr>
          <a:xfrm>
            <a:off x="522803" y="6231969"/>
            <a:ext cx="8098393" cy="1099899"/>
          </a:xfrm>
          <a:prstGeom prst="roundRect">
            <a:avLst>
              <a:gd name="adj" fmla="val 6651"/>
            </a:avLst>
          </a:prstGeom>
          <a:solidFill>
            <a:srgbClr val="242429"/>
          </a:solidFill>
          <a:ln/>
        </p:spPr>
      </p:sp>
      <p:sp>
        <p:nvSpPr>
          <p:cNvPr id="23" name="Shape 17"/>
          <p:cNvSpPr/>
          <p:nvPr/>
        </p:nvSpPr>
        <p:spPr>
          <a:xfrm>
            <a:off x="522803" y="6216729"/>
            <a:ext cx="8098393" cy="60960"/>
          </a:xfrm>
          <a:prstGeom prst="roundRect">
            <a:avLst>
              <a:gd name="adj" fmla="val 36756"/>
            </a:avLst>
          </a:prstGeom>
          <a:solidFill>
            <a:srgbClr val="FDC4C4"/>
          </a:solidFill>
          <a:ln/>
        </p:spPr>
      </p:sp>
      <p:sp>
        <p:nvSpPr>
          <p:cNvPr id="24" name="Shape 18"/>
          <p:cNvSpPr/>
          <p:nvPr/>
        </p:nvSpPr>
        <p:spPr>
          <a:xfrm>
            <a:off x="4347984" y="6008013"/>
            <a:ext cx="448032" cy="448032"/>
          </a:xfrm>
          <a:prstGeom prst="roundRect">
            <a:avLst>
              <a:gd name="adj" fmla="val 204093"/>
            </a:avLst>
          </a:prstGeom>
          <a:solidFill>
            <a:srgbClr val="FDC4C4"/>
          </a:solidFill>
          <a:ln/>
        </p:spPr>
      </p:sp>
      <p:pic>
        <p:nvPicPr>
          <p:cNvPr id="25"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82405" y="6142434"/>
            <a:ext cx="179189" cy="179189"/>
          </a:xfrm>
          <a:prstGeom prst="rect">
            <a:avLst/>
          </a:prstGeom>
        </p:spPr>
      </p:pic>
      <p:sp>
        <p:nvSpPr>
          <p:cNvPr id="26" name="Text 19"/>
          <p:cNvSpPr/>
          <p:nvPr/>
        </p:nvSpPr>
        <p:spPr>
          <a:xfrm>
            <a:off x="687348" y="6605349"/>
            <a:ext cx="1867138" cy="233363"/>
          </a:xfrm>
          <a:prstGeom prst="rect">
            <a:avLst/>
          </a:prstGeom>
          <a:noFill/>
          <a:ln/>
        </p:spPr>
        <p:txBody>
          <a:bodyPr wrap="none" lIns="0" tIns="0" rIns="0" bIns="0" rtlCol="0" anchor="t"/>
          <a:lstStyle/>
          <a:p>
            <a:pPr algn="l" indent="0" marL="0">
              <a:lnSpc>
                <a:spcPts val="1800"/>
              </a:lnSpc>
              <a:buNone/>
            </a:pPr>
            <a:r>
              <a:rPr lang="en-US" sz="1450" dirty="0">
                <a:solidFill>
                  <a:srgbClr val="C7CDD6"/>
                </a:solidFill>
                <a:latin typeface="Instrument Sans Medium" pitchFamily="34" charset="0"/>
                <a:ea typeface="Instrument Sans Medium" pitchFamily="34" charset="-122"/>
                <a:cs typeface="Instrument Sans Medium" pitchFamily="34" charset="-120"/>
              </a:rPr>
              <a:t>Yếu tố Tiện nghi</a:t>
            </a:r>
            <a:endParaRPr lang="en-US" sz="1450" dirty="0"/>
          </a:p>
        </p:txBody>
      </p:sp>
      <p:sp>
        <p:nvSpPr>
          <p:cNvPr id="27" name="Text 20"/>
          <p:cNvSpPr/>
          <p:nvPr/>
        </p:nvSpPr>
        <p:spPr>
          <a:xfrm>
            <a:off x="687348" y="6928247"/>
            <a:ext cx="7769304" cy="239078"/>
          </a:xfrm>
          <a:prstGeom prst="rect">
            <a:avLst/>
          </a:prstGeom>
          <a:noFill/>
          <a:ln/>
        </p:spPr>
        <p:txBody>
          <a:bodyPr wrap="none" lIns="0" tIns="0" rIns="0" bIns="0" rtlCol="0" anchor="t"/>
          <a:lstStyle/>
          <a:p>
            <a:pPr algn="l" indent="0" marL="0">
              <a:lnSpc>
                <a:spcPts val="1850"/>
              </a:lnSpc>
              <a:buNone/>
            </a:pPr>
            <a:r>
              <a:rPr lang="en-US" sz="1150" dirty="0">
                <a:solidFill>
                  <a:srgbClr val="C7CDD6"/>
                </a:solidFill>
                <a:latin typeface="Inter" pitchFamily="34" charset="0"/>
                <a:ea typeface="Inter" pitchFamily="34" charset="-122"/>
                <a:cs typeface="Inter" pitchFamily="34" charset="-120"/>
              </a:rPr>
              <a:t>An ninh, điều hòa, và wifi là những tiện nghi được đề cập nhiều nhất, cho thấy </a:t>
            </a:r>
            <a:pPr algn="l" indent="0" marL="0">
              <a:lnSpc>
                <a:spcPts val="1850"/>
              </a:lnSpc>
              <a:buNone/>
            </a:pPr>
            <a:r>
              <a:rPr lang="en-US" sz="1150" dirty="0">
                <a:solidFill>
                  <a:srgbClr val="FDC4C4"/>
                </a:solidFill>
                <a:latin typeface="Inter" pitchFamily="34" charset="0"/>
                <a:ea typeface="Inter" pitchFamily="34" charset="-122"/>
                <a:cs typeface="Inter" pitchFamily="34" charset="-120"/>
              </a:rPr>
              <a:t>ưu tiên của người thuê</a:t>
            </a:r>
            <a:pPr algn="l" indent="0" marL="0">
              <a:lnSpc>
                <a:spcPts val="1850"/>
              </a:lnSpc>
              <a:buNone/>
            </a:pPr>
            <a:r>
              <a:rPr lang="en-US" sz="1150" dirty="0">
                <a:solidFill>
                  <a:srgbClr val="C7CDD6"/>
                </a:solidFill>
                <a:latin typeface="Inter" pitchFamily="34" charset="0"/>
                <a:ea typeface="Inter" pitchFamily="34" charset="-122"/>
                <a:cs typeface="Inter" pitchFamily="34" charset="-120"/>
              </a:rPr>
              <a: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747951"/>
            <a:ext cx="12446198" cy="708779"/>
          </a:xfrm>
          <a:prstGeom prst="rect">
            <a:avLst/>
          </a:prstGeom>
          <a:noFill/>
          <a:ln/>
        </p:spPr>
        <p:txBody>
          <a:bodyPr wrap="none" lIns="0" tIns="0" rIns="0" bIns="0" rtlCol="0" anchor="t"/>
          <a:lstStyle/>
          <a:p>
            <a:pPr algn="l" indent="0" marL="0">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Trực quan hóa Dữ liệu: Từ Xu hướng đến Insight</a:t>
            </a:r>
            <a:endParaRPr lang="en-US" sz="4450" dirty="0"/>
          </a:p>
        </p:txBody>
      </p:sp>
      <p:pic>
        <p:nvPicPr>
          <p:cNvPr id="3" name="Image 0" descr="preencoded.png">    </p:cNvPr>
          <p:cNvPicPr>
            <a:picLocks noChangeAspect="1"/>
          </p:cNvPicPr>
          <p:nvPr/>
        </p:nvPicPr>
        <p:blipFill>
          <a:blip r:embed="rId1"/>
          <a:stretch>
            <a:fillRect/>
          </a:stretch>
        </p:blipFill>
        <p:spPr>
          <a:xfrm>
            <a:off x="793790" y="1910358"/>
            <a:ext cx="3048000" cy="3048000"/>
          </a:xfrm>
          <a:prstGeom prst="rect">
            <a:avLst/>
          </a:prstGeom>
        </p:spPr>
      </p:pic>
      <p:sp>
        <p:nvSpPr>
          <p:cNvPr id="4" name="Text 1"/>
          <p:cNvSpPr/>
          <p:nvPr/>
        </p:nvSpPr>
        <p:spPr>
          <a:xfrm>
            <a:off x="793790" y="5185172"/>
            <a:ext cx="3048000" cy="708660"/>
          </a:xfrm>
          <a:prstGeom prst="rect">
            <a:avLst/>
          </a:prstGeom>
          <a:noFill/>
          <a:ln/>
        </p:spPr>
        <p:txBody>
          <a:bodyPr wrap="square" lIns="0" tIns="0" rIns="0" bIns="0" rtlCol="0" anchor="t"/>
          <a:lstStyle/>
          <a:p>
            <a:pPr algn="l"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Histogram: Phân bố Giá</a:t>
            </a:r>
            <a:endParaRPr lang="en-US" sz="2200" dirty="0"/>
          </a:p>
        </p:txBody>
      </p:sp>
      <p:sp>
        <p:nvSpPr>
          <p:cNvPr id="5" name="Text 2"/>
          <p:cNvSpPr/>
          <p:nvPr/>
        </p:nvSpPr>
        <p:spPr>
          <a:xfrm>
            <a:off x="793790" y="6029920"/>
            <a:ext cx="3048000" cy="1451610"/>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Biểu đồ tần suất cho thấy sự tập trung giá thuê, làm nổi bật phân khúc giá thị trường.</a:t>
            </a:r>
            <a:endParaRPr lang="en-US" sz="1750" dirty="0"/>
          </a:p>
        </p:txBody>
      </p:sp>
      <p:pic>
        <p:nvPicPr>
          <p:cNvPr id="6" name="Image 1" descr="preencoded.png">    </p:cNvPr>
          <p:cNvPicPr>
            <a:picLocks noChangeAspect="1"/>
          </p:cNvPicPr>
          <p:nvPr/>
        </p:nvPicPr>
        <p:blipFill>
          <a:blip r:embed="rId2"/>
          <a:stretch>
            <a:fillRect/>
          </a:stretch>
        </p:blipFill>
        <p:spPr>
          <a:xfrm>
            <a:off x="4125278" y="1910358"/>
            <a:ext cx="3048119" cy="3048119"/>
          </a:xfrm>
          <a:prstGeom prst="rect">
            <a:avLst/>
          </a:prstGeom>
        </p:spPr>
      </p:pic>
      <p:sp>
        <p:nvSpPr>
          <p:cNvPr id="7" name="Text 3"/>
          <p:cNvSpPr/>
          <p:nvPr/>
        </p:nvSpPr>
        <p:spPr>
          <a:xfrm>
            <a:off x="4125278" y="5185291"/>
            <a:ext cx="3039428" cy="354330"/>
          </a:xfrm>
          <a:prstGeom prst="rect">
            <a:avLst/>
          </a:prstGeom>
          <a:noFill/>
          <a:ln/>
        </p:spPr>
        <p:txBody>
          <a:bodyPr wrap="none" lIns="0" tIns="0" rIns="0" bIns="0" rtlCol="0" anchor="t"/>
          <a:lstStyle/>
          <a:p>
            <a:pPr algn="l"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Boxplot: Giá theo Quận</a:t>
            </a:r>
            <a:endParaRPr lang="en-US" sz="2200" dirty="0"/>
          </a:p>
        </p:txBody>
      </p:sp>
      <p:sp>
        <p:nvSpPr>
          <p:cNvPr id="8" name="Text 4"/>
          <p:cNvSpPr/>
          <p:nvPr/>
        </p:nvSpPr>
        <p:spPr>
          <a:xfrm>
            <a:off x="4125278" y="5675709"/>
            <a:ext cx="3048119" cy="1088708"/>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So sánh phân bố giá thuê giữa các quận, xác định sự khác biệt rõ rệt về chi phí.</a:t>
            </a:r>
            <a:endParaRPr lang="en-US" sz="1750" dirty="0"/>
          </a:p>
        </p:txBody>
      </p:sp>
      <p:pic>
        <p:nvPicPr>
          <p:cNvPr id="9" name="Image 2" descr="preencoded.png">    </p:cNvPr>
          <p:cNvPicPr>
            <a:picLocks noChangeAspect="1"/>
          </p:cNvPicPr>
          <p:nvPr/>
        </p:nvPicPr>
        <p:blipFill>
          <a:blip r:embed="rId3"/>
          <a:stretch>
            <a:fillRect/>
          </a:stretch>
        </p:blipFill>
        <p:spPr>
          <a:xfrm>
            <a:off x="7456884" y="1910358"/>
            <a:ext cx="3048119" cy="3048119"/>
          </a:xfrm>
          <a:prstGeom prst="rect">
            <a:avLst/>
          </a:prstGeom>
        </p:spPr>
      </p:pic>
      <p:sp>
        <p:nvSpPr>
          <p:cNvPr id="10" name="Text 5"/>
          <p:cNvSpPr/>
          <p:nvPr/>
        </p:nvSpPr>
        <p:spPr>
          <a:xfrm>
            <a:off x="7456884" y="5185291"/>
            <a:ext cx="3048119" cy="708660"/>
          </a:xfrm>
          <a:prstGeom prst="rect">
            <a:avLst/>
          </a:prstGeom>
          <a:noFill/>
          <a:ln/>
        </p:spPr>
        <p:txBody>
          <a:bodyPr wrap="square" lIns="0" tIns="0" rIns="0" bIns="0" rtlCol="0" anchor="t"/>
          <a:lstStyle/>
          <a:p>
            <a:pPr algn="l"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Scatter Plot: Giá &amp; Diện tích</a:t>
            </a:r>
            <a:endParaRPr lang="en-US" sz="2200" dirty="0"/>
          </a:p>
        </p:txBody>
      </p:sp>
      <p:sp>
        <p:nvSpPr>
          <p:cNvPr id="11" name="Text 6"/>
          <p:cNvSpPr/>
          <p:nvPr/>
        </p:nvSpPr>
        <p:spPr>
          <a:xfrm>
            <a:off x="7456884" y="6030039"/>
            <a:ext cx="3048119" cy="1088708"/>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Mối quan hệ giữa giá thuê và diện tích, giúp nhận diện các xu hướng định giá.</a:t>
            </a:r>
            <a:endParaRPr lang="en-US" sz="1750" dirty="0"/>
          </a:p>
        </p:txBody>
      </p:sp>
      <p:pic>
        <p:nvPicPr>
          <p:cNvPr id="12" name="Image 3" descr="preencoded.png">    </p:cNvPr>
          <p:cNvPicPr>
            <a:picLocks noChangeAspect="1"/>
          </p:cNvPicPr>
          <p:nvPr/>
        </p:nvPicPr>
        <p:blipFill>
          <a:blip r:embed="rId4"/>
          <a:stretch>
            <a:fillRect/>
          </a:stretch>
        </p:blipFill>
        <p:spPr>
          <a:xfrm>
            <a:off x="10788491" y="1910358"/>
            <a:ext cx="3048119" cy="3048119"/>
          </a:xfrm>
          <a:prstGeom prst="rect">
            <a:avLst/>
          </a:prstGeom>
        </p:spPr>
      </p:pic>
      <p:sp>
        <p:nvSpPr>
          <p:cNvPr id="13" name="Text 7"/>
          <p:cNvSpPr/>
          <p:nvPr/>
        </p:nvSpPr>
        <p:spPr>
          <a:xfrm>
            <a:off x="10788491" y="5185291"/>
            <a:ext cx="3048119" cy="708660"/>
          </a:xfrm>
          <a:prstGeom prst="rect">
            <a:avLst/>
          </a:prstGeom>
          <a:noFill/>
          <a:ln/>
        </p:spPr>
        <p:txBody>
          <a:bodyPr wrap="square" lIns="0" tIns="0" rIns="0" bIns="0" rtlCol="0" anchor="t"/>
          <a:lstStyle/>
          <a:p>
            <a:pPr algn="l"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Heatmap: Tiện ích Nổi bật</a:t>
            </a:r>
            <a:endParaRPr lang="en-US" sz="2200" dirty="0"/>
          </a:p>
        </p:txBody>
      </p:sp>
      <p:sp>
        <p:nvSpPr>
          <p:cNvPr id="14" name="Text 8"/>
          <p:cNvSpPr/>
          <p:nvPr/>
        </p:nvSpPr>
        <p:spPr>
          <a:xfrm>
            <a:off x="10788491" y="6030039"/>
            <a:ext cx="3048119" cy="1451610"/>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Thể hiện tần suất xuất hiện của các tiện nghi, nhấn mạnh yếu tố quan trọng với người thuê.</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21638" y="566976"/>
            <a:ext cx="9157573" cy="644366"/>
          </a:xfrm>
          <a:prstGeom prst="rect">
            <a:avLst/>
          </a:prstGeom>
          <a:noFill/>
          <a:ln/>
        </p:spPr>
        <p:txBody>
          <a:bodyPr wrap="none" lIns="0" tIns="0" rIns="0" bIns="0" rtlCol="0" anchor="t"/>
          <a:lstStyle/>
          <a:p>
            <a:pPr algn="l" indent="0" marL="0">
              <a:lnSpc>
                <a:spcPts val="5050"/>
              </a:lnSpc>
              <a:buNone/>
            </a:pPr>
            <a:r>
              <a:rPr lang="en-US" sz="4050" dirty="0">
                <a:solidFill>
                  <a:srgbClr val="EFD5FA"/>
                </a:solidFill>
                <a:latin typeface="Instrument Sans Medium" pitchFamily="34" charset="0"/>
                <a:ea typeface="Instrument Sans Medium" pitchFamily="34" charset="-122"/>
                <a:cs typeface="Instrument Sans Medium" pitchFamily="34" charset="-120"/>
              </a:rPr>
              <a:t>Kết luận và Hướng phát triển Tương lai</a:t>
            </a:r>
            <a:endParaRPr lang="en-US" sz="4050" dirty="0"/>
          </a:p>
        </p:txBody>
      </p:sp>
      <p:sp>
        <p:nvSpPr>
          <p:cNvPr id="3" name="Text 1"/>
          <p:cNvSpPr/>
          <p:nvPr/>
        </p:nvSpPr>
        <p:spPr>
          <a:xfrm>
            <a:off x="721638" y="1706047"/>
            <a:ext cx="6342102" cy="1319689"/>
          </a:xfrm>
          <a:prstGeom prst="rect">
            <a:avLst/>
          </a:prstGeom>
          <a:noFill/>
          <a:ln/>
        </p:spPr>
        <p:txBody>
          <a:bodyPr wrap="square" lIns="0" tIns="0" rIns="0" bIns="0" rtlCol="0" anchor="t"/>
          <a:lstStyle/>
          <a:p>
            <a:pPr algn="l" indent="0" marL="0">
              <a:lnSpc>
                <a:spcPts val="2550"/>
              </a:lnSpc>
              <a:buNone/>
            </a:pPr>
            <a:r>
              <a:rPr lang="en-US" sz="1600" dirty="0">
                <a:solidFill>
                  <a:srgbClr val="C7CDD6"/>
                </a:solidFill>
                <a:latin typeface="Inter" pitchFamily="34" charset="0"/>
                <a:ea typeface="Inter" pitchFamily="34" charset="-122"/>
                <a:cs typeface="Inter" pitchFamily="34" charset="-120"/>
              </a:rPr>
              <a:t>Quá trình phân tích dữ liệu phòng trọ đã cung cấp bức tranh rõ ràng và sâu sắc về thị trường cho thuê tại TP. Hồ Chí Minh. Từ việc làm sạch đến trực quan hóa dữ liệu, chúng tôi đã khám phá được nhiều insight quan trọng:</a:t>
            </a:r>
            <a:endParaRPr lang="en-US" sz="1600" dirty="0"/>
          </a:p>
        </p:txBody>
      </p:sp>
      <p:sp>
        <p:nvSpPr>
          <p:cNvPr id="4" name="Text 2"/>
          <p:cNvSpPr/>
          <p:nvPr/>
        </p:nvSpPr>
        <p:spPr>
          <a:xfrm>
            <a:off x="721638" y="3211235"/>
            <a:ext cx="6342102" cy="329922"/>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C7CDD6"/>
                </a:solidFill>
                <a:latin typeface="Inter" pitchFamily="34" charset="0"/>
                <a:ea typeface="Inter" pitchFamily="34" charset="-122"/>
                <a:cs typeface="Inter" pitchFamily="34" charset="-120"/>
              </a:rPr>
              <a:t>Phân khúc giá thuê và diện tích phổ biến.</a:t>
            </a:r>
            <a:endParaRPr lang="en-US" sz="1600" dirty="0"/>
          </a:p>
        </p:txBody>
      </p:sp>
      <p:sp>
        <p:nvSpPr>
          <p:cNvPr id="5" name="Text 3"/>
          <p:cNvSpPr/>
          <p:nvPr/>
        </p:nvSpPr>
        <p:spPr>
          <a:xfrm>
            <a:off x="721638" y="3613309"/>
            <a:ext cx="6342102" cy="329922"/>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C7CDD6"/>
                </a:solidFill>
                <a:latin typeface="Inter" pitchFamily="34" charset="0"/>
                <a:ea typeface="Inter" pitchFamily="34" charset="-122"/>
                <a:cs typeface="Inter" pitchFamily="34" charset="-120"/>
              </a:rPr>
              <a:t>Sự biến động giá theo vị trí địa lý (quận, khu vực).</a:t>
            </a:r>
            <a:endParaRPr lang="en-US" sz="1600" dirty="0"/>
          </a:p>
        </p:txBody>
      </p:sp>
      <p:sp>
        <p:nvSpPr>
          <p:cNvPr id="6" name="Text 4"/>
          <p:cNvSpPr/>
          <p:nvPr/>
        </p:nvSpPr>
        <p:spPr>
          <a:xfrm>
            <a:off x="721638" y="4015383"/>
            <a:ext cx="6342102" cy="329922"/>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C7CDD6"/>
                </a:solidFill>
                <a:latin typeface="Inter" pitchFamily="34" charset="0"/>
                <a:ea typeface="Inter" pitchFamily="34" charset="-122"/>
                <a:cs typeface="Inter" pitchFamily="34" charset="-120"/>
              </a:rPr>
              <a:t>Các tiện nghi được ưu tiên hàng đầu bởi người thuê.</a:t>
            </a:r>
            <a:endParaRPr lang="en-US" sz="1600" dirty="0"/>
          </a:p>
        </p:txBody>
      </p:sp>
      <p:sp>
        <p:nvSpPr>
          <p:cNvPr id="7" name="Text 5"/>
          <p:cNvSpPr/>
          <p:nvPr/>
        </p:nvSpPr>
        <p:spPr>
          <a:xfrm>
            <a:off x="721638" y="4551402"/>
            <a:ext cx="2577584" cy="322183"/>
          </a:xfrm>
          <a:prstGeom prst="rect">
            <a:avLst/>
          </a:prstGeom>
          <a:noFill/>
          <a:ln/>
        </p:spPr>
        <p:txBody>
          <a:bodyPr wrap="none" lIns="0" tIns="0" rIns="0" bIns="0" rtlCol="0" anchor="t"/>
          <a:lstStyle/>
          <a:p>
            <a:pPr algn="l" indent="0" marL="0">
              <a:lnSpc>
                <a:spcPts val="2500"/>
              </a:lnSpc>
              <a:buNone/>
            </a:pPr>
            <a:r>
              <a:rPr lang="en-US" sz="2000" dirty="0">
                <a:solidFill>
                  <a:srgbClr val="EFD5FA"/>
                </a:solidFill>
                <a:latin typeface="Instrument Sans Medium" pitchFamily="34" charset="0"/>
                <a:ea typeface="Instrument Sans Medium" pitchFamily="34" charset="-122"/>
                <a:cs typeface="Instrument Sans Medium" pitchFamily="34" charset="-120"/>
              </a:rPr>
              <a:t>Bước tiếp theo:</a:t>
            </a:r>
            <a:endParaRPr lang="en-US" sz="2000" dirty="0"/>
          </a:p>
        </p:txBody>
      </p:sp>
      <p:sp>
        <p:nvSpPr>
          <p:cNvPr id="8" name="Text 6"/>
          <p:cNvSpPr/>
          <p:nvPr/>
        </p:nvSpPr>
        <p:spPr>
          <a:xfrm>
            <a:off x="721638" y="5079683"/>
            <a:ext cx="6342102" cy="659844"/>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C7CDD6"/>
                </a:solidFill>
                <a:latin typeface="Inter" pitchFamily="34" charset="0"/>
                <a:ea typeface="Inter" pitchFamily="34" charset="-122"/>
                <a:cs typeface="Inter" pitchFamily="34" charset="-120"/>
              </a:rPr>
              <a:t>Phân cụm:</a:t>
            </a:r>
            <a:pPr algn="l" indent="0" marL="0">
              <a:lnSpc>
                <a:spcPts val="2550"/>
              </a:lnSpc>
              <a:buNone/>
            </a:pPr>
            <a:r>
              <a:rPr lang="en-US" sz="1600" dirty="0">
                <a:solidFill>
                  <a:srgbClr val="C7CDD6"/>
                </a:solidFill>
                <a:latin typeface="Inter" pitchFamily="34" charset="0"/>
                <a:ea typeface="Inter" pitchFamily="34" charset="-122"/>
                <a:cs typeface="Inter" pitchFamily="34" charset="-120"/>
              </a:rPr>
              <a:t> Nhóm các phòng trọ có đặc điểm tương đồng để hiểu rõ hơn về các phân khúc thị trường ngách.</a:t>
            </a:r>
            <a:endParaRPr lang="en-US" sz="1600" dirty="0"/>
          </a:p>
        </p:txBody>
      </p:sp>
      <p:sp>
        <p:nvSpPr>
          <p:cNvPr id="9" name="Text 7"/>
          <p:cNvSpPr/>
          <p:nvPr/>
        </p:nvSpPr>
        <p:spPr>
          <a:xfrm>
            <a:off x="721638" y="5811679"/>
            <a:ext cx="6342102" cy="989767"/>
          </a:xfrm>
          <a:prstGeom prst="rect">
            <a:avLst/>
          </a:prstGeom>
          <a:noFill/>
          <a:ln/>
        </p:spPr>
        <p:txBody>
          <a:bodyPr wrap="square" lIns="0" tIns="0" rIns="0" bIns="0" rtlCol="0" anchor="t"/>
          <a:lstStyle/>
          <a:p>
            <a:pPr algn="l" marL="342900" indent="-342900">
              <a:lnSpc>
                <a:spcPts val="2550"/>
              </a:lnSpc>
              <a:buSzPct val="100000"/>
              <a:buChar char="•"/>
            </a:pPr>
            <a:r>
              <a:rPr lang="en-US" sz="1600" b="1" dirty="0">
                <a:solidFill>
                  <a:srgbClr val="C7CDD6"/>
                </a:solidFill>
                <a:latin typeface="Inter" pitchFamily="34" charset="0"/>
                <a:ea typeface="Inter" pitchFamily="34" charset="-122"/>
                <a:cs typeface="Inter" pitchFamily="34" charset="-120"/>
              </a:rPr>
              <a:t>Mô hình dự đoán giá:</a:t>
            </a:r>
            <a:pPr algn="l" indent="0" marL="0">
              <a:lnSpc>
                <a:spcPts val="2550"/>
              </a:lnSpc>
              <a:buNone/>
            </a:pPr>
            <a:r>
              <a:rPr lang="en-US" sz="1600" dirty="0">
                <a:solidFill>
                  <a:srgbClr val="C7CDD6"/>
                </a:solidFill>
                <a:latin typeface="Inter" pitchFamily="34" charset="0"/>
                <a:ea typeface="Inter" pitchFamily="34" charset="-122"/>
                <a:cs typeface="Inter" pitchFamily="34" charset="-120"/>
              </a:rPr>
              <a:t> Xây dựng các mô hình machine learning để dự đoán giá thuê phòng trọ dựa trên các đặc trưng đã được làm giàu.</a:t>
            </a:r>
            <a:endParaRPr lang="en-US" sz="1600" dirty="0"/>
          </a:p>
        </p:txBody>
      </p:sp>
      <p:pic>
        <p:nvPicPr>
          <p:cNvPr id="10" name="Image 0" descr="preencoded.png">    </p:cNvPr>
          <p:cNvPicPr>
            <a:picLocks noChangeAspect="1"/>
          </p:cNvPicPr>
          <p:nvPr/>
        </p:nvPicPr>
        <p:blipFill>
          <a:blip r:embed="rId1"/>
          <a:stretch>
            <a:fillRect/>
          </a:stretch>
        </p:blipFill>
        <p:spPr>
          <a:xfrm>
            <a:off x="7574280" y="1752481"/>
            <a:ext cx="6342102" cy="634210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2025-12-11T16:51:18Z</dcterms:created>
  <dcterms:modified xsi:type="dcterms:W3CDTF">2025-12-11T16:51:18Z</dcterms:modified>
</cp:coreProperties>
</file>